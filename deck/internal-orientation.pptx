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terminal at the root of the code repository, with the store beside it.
cd ~/momentive-bi-digest/bi-theme-digest-agent
ls ../bi-theme-digest-store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make setup
make demo
open ../bi-theme-digest-store-demo/digests/2026-W37.html
Then open ../bi-theme-digest-store-demo/digests/2026-W37.md and read the run line, the cold start paragraph, and theme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ls
ls src/digest
Say: two repositories, code here and the context store next door. The store has no code in it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find src -name '*.py' | sort
Say: about nine thousand lines, and the only three files that talk to a model are reader.py, editor.py and analyst.py.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sed -n '31,64p' README.md
Say: code owns sequencing, validation, citation checking, scoring arithmetic and every write, because those have to give the same answer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cat config/models.yaml
grep -rn 'claude-' src/ | wc -l
The second command returns zero,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head -25 ../bi-theme-digest-store/themes/_INDEX.md
head -30 ../bi-theme-digest-store/themes/THEME-0002.md
head -10 ../bi-theme-digest-store/sources/_INDEX.md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git -C ../bi-theme-digest-store log --oneline | head -20
grep '"action": "withhold"' ../bi-theme-digest-store/runs/2026-09-10T06:00Z/run.log.jsonl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.venv/bin/python -m pytest tests/test_score.py -q
make swap-models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head -40 ../build/briefs/B1.md
python -c "import json;print(json.load(open('../build/envelopes/B16.json'))['verification_run'])"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make eval
sed -n '/## Tuning/,$p' docs/DECISIONS.md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ls ../build/qa/
head -40 ../build/qa/CitationAudit.md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commands here. If someone asks what is weak, these are the eight answers, and every one of them is already written down in the README or a QA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commands, in order:
make demo
open ../bi-theme-digest-store/digests/2026-W37.md
grep 03a7ca4ae6d8 ../bi-theme-digest-store/evidence/claims/2026-09-08T06:00Z.jsonl | python -m json.tool
grep -c "Every renewal statement we send out is missing the balance" data/mock/traps/gong/calls/7782934451002.json
grep '"action": "withhold"' ../bi-theme-digest-store/runs/2026-09-10T06:00Z/run.log.jsonl
grep -n "def read_theme_index\|def read_theme\|def list_run_claims\|def read_account\|def write" src/digest/agents/editor/tools.py
python -m digest approve --theme THEME-0002 --dry-run --mode replay --repo OWNER/product-feedback
python -m digest approve --theme THEME-0002 --mode replay --repo OWNER/product-feedback
make swap-models
make ask Q="how many seats does the mobile app licence include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make test
make demo
git status --porcelain
git -C ../bi-theme-digest-store status --porcelain
grep -rlP '[\x{2013}\x{2014}]' --exclude-dir=.git --exclude-dir=.venv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454F"/>
        </a:solidFill>
      </p:bgPr>
    </p:bg>
    <p:spTree>
      <p:nvGrpSpPr>
        <p:cNvPr id="1" name=""/>
        <p:cNvGrpSpPr/>
        <p:nvPr/>
      </p:nvGrpSpPr>
      <p:grpSpPr>
        <a:xfrm>
          <a:off x="0" y="0"/>
          <a:ext cx="0" cy="0"/>
          <a:chOff x="0" y="0"/>
          <a:chExt cx="0" cy="0"/>
        </a:xfrm>
      </p:grpSpPr>
      <p:sp>
        <p:nvSpPr>
          <p:cNvPr id="2" name="Text 0"/>
          <p:cNvSpPr txBox="1"/>
          <p:nvPr/>
        </p:nvSpPr>
        <p:spPr>
          <a:xfrm>
            <a:off x="822960" y="1828800"/>
            <a:ext cx="10515600" cy="8229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Orientation</a:t>
            </a:r>
            <a:endParaRPr lang="en-US" sz="5400" dirty="0"/>
          </a:p>
        </p:txBody>
      </p:sp>
      <p:sp>
        <p:nvSpPr>
          <p:cNvPr id="3" name="Text 1"/>
          <p:cNvSpPr txBox="1"/>
          <p:nvPr/>
        </p:nvSpPr>
        <p:spPr>
          <a:xfrm>
            <a:off x="822960" y="2697480"/>
            <a:ext cx="10515600" cy="731520"/>
          </a:xfrm>
          <a:prstGeom prst="rect">
            <a:avLst/>
          </a:prstGeom>
          <a:noFill/>
          <a:ln/>
        </p:spPr>
        <p:txBody>
          <a:bodyPr wrap="square" lIns="0" tIns="0" rIns="0" bIns="0" rtlCol="0" anchor="ctr"/>
          <a:lstStyle/>
          <a:p>
            <a:pPr indent="0" marL="0">
              <a:buNone/>
            </a:pPr>
            <a:r>
              <a:rPr lang="en-US" sz="3400" dirty="0">
                <a:solidFill>
                  <a:srgbClr val="CADCFC"/>
                </a:solidFill>
                <a:latin typeface="Cambria" pitchFamily="34" charset="0"/>
                <a:ea typeface="Cambria" pitchFamily="34" charset="-122"/>
                <a:cs typeface="Cambria" pitchFamily="34" charset="-120"/>
              </a:rPr>
              <a:t>what you have and how to run it</a:t>
            </a:r>
            <a:endParaRPr lang="en-US" sz="3400" dirty="0"/>
          </a:p>
        </p:txBody>
      </p:sp>
      <p:sp>
        <p:nvSpPr>
          <p:cNvPr id="4" name="Text 2"/>
          <p:cNvSpPr txBox="1"/>
          <p:nvPr/>
        </p:nvSpPr>
        <p:spPr>
          <a:xfrm>
            <a:off x="822960" y="3749040"/>
            <a:ext cx="7863840" cy="914400"/>
          </a:xfrm>
          <a:prstGeom prst="rect">
            <a:avLst/>
          </a:prstGeom>
          <a:noFill/>
          <a:ln/>
        </p:spPr>
        <p:txBody>
          <a:bodyPr wrap="square" lIns="0" tIns="0" rIns="0" bIns="0" rtlCol="0" anchor="ctr"/>
          <a:lstStyle/>
          <a:p>
            <a:pPr indent="0" marL="0">
              <a:lnSpc>
                <a:spcPts val="2200"/>
              </a:lnSpc>
              <a:buNone/>
            </a:pPr>
            <a:r>
              <a:rPr lang="en-US" sz="1500" dirty="0">
                <a:solidFill>
                  <a:srgbClr val="C7CDD2"/>
                </a:solidFill>
                <a:latin typeface="Calibri" pitchFamily="34" charset="0"/>
                <a:ea typeface="Calibri" pitchFamily="34" charset="-122"/>
                <a:cs typeface="Calibri" pitchFamily="34" charset="-120"/>
              </a:rPr>
              <a:t>The BI theme digest agent, built for Momentive Software. This deck is for me, not for the review. It is the same forty five minute tour as docs/ORIENTATION.md, in slide form.</a:t>
            </a:r>
            <a:endParaRPr lang="en-US" sz="1500" dirty="0"/>
          </a:p>
        </p:txBody>
      </p:sp>
      <p:sp>
        <p:nvSpPr>
          <p:cNvPr id="5" name="Text 3"/>
          <p:cNvSpPr txBox="1"/>
          <p:nvPr/>
        </p:nvSpPr>
        <p:spPr>
          <a:xfrm>
            <a:off x="822960" y="5760720"/>
            <a:ext cx="5486400" cy="365760"/>
          </a:xfrm>
          <a:prstGeom prst="rect">
            <a:avLst/>
          </a:prstGeom>
          <a:noFill/>
          <a:ln/>
        </p:spPr>
        <p:txBody>
          <a:bodyPr wrap="square" lIns="0" tIns="0" rIns="0" bIns="0" rtlCol="0" anchor="ctr"/>
          <a:lstStyle/>
          <a:p>
            <a:pPr indent="0" marL="0">
              <a:buNone/>
            </a:pPr>
            <a:r>
              <a:rPr lang="en-US" sz="1300" dirty="0">
                <a:solidFill>
                  <a:srgbClr val="6E7B85"/>
                </a:solidFill>
                <a:latin typeface="Calibri" pitchFamily="34" charset="0"/>
                <a:ea typeface="Calibri" pitchFamily="34" charset="-122"/>
                <a:cs typeface="Calibri" pitchFamily="34" charset="-120"/>
              </a:rPr>
              <a:t>Jim Mehta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TEN MINUTES TO SEE IT RUN</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Three commands, twenty seconds, no network</a:t>
            </a:r>
            <a:endParaRPr lang="en-US" sz="3200" dirty="0"/>
          </a:p>
        </p:txBody>
      </p:sp>
      <p:sp>
        <p:nvSpPr>
          <p:cNvPr id="4" name="Shape 2"/>
          <p:cNvSpPr/>
          <p:nvPr/>
        </p:nvSpPr>
        <p:spPr>
          <a:xfrm>
            <a:off x="548640" y="1417320"/>
            <a:ext cx="5486400" cy="1417320"/>
          </a:xfrm>
          <a:prstGeom prst="roundRect">
            <a:avLst>
              <a:gd name="adj" fmla="val 3871"/>
            </a:avLst>
          </a:prstGeom>
          <a:solidFill>
            <a:srgbClr val="F2F2F2"/>
          </a:solidFill>
          <a:ln w="12700">
            <a:solidFill>
              <a:srgbClr val="F2F2F2"/>
            </a:solidFill>
            <a:prstDash val="solid"/>
          </a:ln>
        </p:spPr>
      </p:sp>
      <p:sp>
        <p:nvSpPr>
          <p:cNvPr id="5" name="Text 3"/>
          <p:cNvSpPr txBox="1"/>
          <p:nvPr/>
        </p:nvSpPr>
        <p:spPr>
          <a:xfrm>
            <a:off x="777240" y="1572768"/>
            <a:ext cx="5120640" cy="1143000"/>
          </a:xfrm>
          <a:prstGeom prst="rect">
            <a:avLst/>
          </a:prstGeom>
          <a:noFill/>
          <a:ln/>
        </p:spPr>
        <p:txBody>
          <a:bodyPr wrap="square" lIns="0" tIns="0" rIns="0" bIns="0" rtlCol="0" anchor="ctr"/>
          <a:lstStyle/>
          <a:p>
            <a:pPr indent="0" marL="0">
              <a:lnSpc>
                <a:spcPts val="2100"/>
              </a:lnSpc>
              <a:buNone/>
            </a:pPr>
            <a:r>
              <a:rPr lang="en-US" sz="1250" dirty="0">
                <a:solidFill>
                  <a:srgbClr val="212121"/>
                </a:solidFill>
                <a:latin typeface="Courier New" pitchFamily="34" charset="0"/>
                <a:ea typeface="Courier New" pitchFamily="34" charset="-122"/>
                <a:cs typeface="Courier New" pitchFamily="34" charset="-120"/>
              </a:rPr>
              <a:t>make setup</a:t>
            </a:r>
            <a:endParaRPr lang="en-US" sz="1250" dirty="0"/>
          </a:p>
          <a:p>
            <a:pPr indent="0" marL="0">
              <a:lnSpc>
                <a:spcPts val="2100"/>
              </a:lnSpc>
              <a:buNone/>
            </a:pPr>
            <a:r>
              <a:rPr lang="en-US" sz="1250" dirty="0">
                <a:solidFill>
                  <a:srgbClr val="212121"/>
                </a:solidFill>
                <a:latin typeface="Courier New" pitchFamily="34" charset="0"/>
                <a:ea typeface="Courier New" pitchFamily="34" charset="-122"/>
                <a:cs typeface="Courier New" pitchFamily="34" charset="-120"/>
              </a:rPr>
              <a:t>make demo</a:t>
            </a:r>
            <a:endParaRPr lang="en-US" sz="1250" dirty="0"/>
          </a:p>
          <a:p>
            <a:pPr indent="0" marL="0">
              <a:lnSpc>
                <a:spcPts val="2100"/>
              </a:lnSpc>
              <a:buNone/>
            </a:pPr>
            <a:r>
              <a:rPr lang="en-US" sz="1250" dirty="0">
                <a:solidFill>
                  <a:srgbClr val="212121"/>
                </a:solidFill>
                <a:latin typeface="Courier New" pitchFamily="34" charset="0"/>
                <a:ea typeface="Courier New" pitchFamily="34" charset="-122"/>
                <a:cs typeface="Courier New" pitchFamily="34" charset="-120"/>
              </a:rPr>
              <a:t>open ../bi-theme-digest-store-demo/digests/2026-W37.html</a:t>
            </a:r>
            <a:endParaRPr lang="en-US" sz="1250" dirty="0"/>
          </a:p>
        </p:txBody>
      </p:sp>
      <p:sp>
        <p:nvSpPr>
          <p:cNvPr id="6" name="Text 4"/>
          <p:cNvSpPr txBox="1"/>
          <p:nvPr/>
        </p:nvSpPr>
        <p:spPr>
          <a:xfrm>
            <a:off x="548640" y="3063240"/>
            <a:ext cx="5486400" cy="2743200"/>
          </a:xfrm>
          <a:prstGeom prst="rect">
            <a:avLst/>
          </a:prstGeom>
          <a:noFill/>
          <a:ln/>
        </p:spPr>
        <p:txBody>
          <a:bodyPr wrap="square" lIns="0" tIns="0" rIns="0" bIns="0" rtlCol="0" anchor="t"/>
          <a:lstStyle/>
          <a:p>
            <a:pPr indent="0" marL="0">
              <a:lnSpc>
                <a:spcPts val="2000"/>
              </a:lnSpc>
              <a:buNone/>
            </a:pPr>
            <a:r>
              <a:rPr lang="en-US" sz="1400" dirty="0">
                <a:solidFill>
                  <a:srgbClr val="36454F"/>
                </a:solidFill>
                <a:latin typeface="Calibri" pitchFamily="34" charset="0"/>
                <a:ea typeface="Calibri" pitchFamily="34" charset="-122"/>
                <a:cs typeface="Calibri" pitchFamily="34" charset="-120"/>
              </a:rPr>
              <a:t>The demo clones the store's first commit into a scratch store, restores the recorded model responses, replays fifteen nightly ingests and three weekly builds, then runs the golden set. My last run finished in 19.5 seconds and printed 18 of 18 assertions passed and 19 commits.</a:t>
            </a:r>
            <a:endParaRPr lang="en-US" sz="1400" dirty="0"/>
          </a:p>
          <a:p>
            <a:pPr indent="0" marL="0">
              <a:lnSpc>
                <a:spcPts val="2000"/>
              </a:lnSpc>
              <a:buNone/>
            </a:pPr>
            <a:endParaRPr lang="en-US" sz="1400" dirty="0"/>
          </a:p>
          <a:p>
            <a:pPr indent="0" marL="0">
              <a:lnSpc>
                <a:spcPts val="2000"/>
              </a:lnSpc>
              <a:buNone/>
            </a:pPr>
            <a:r>
              <a:rPr lang="en-US" sz="1400" dirty="0">
                <a:solidFill>
                  <a:srgbClr val="36454F"/>
                </a:solidFill>
                <a:latin typeface="Calibri" pitchFamily="34" charset="0"/>
                <a:ea typeface="Calibri" pitchFamily="34" charset="-122"/>
                <a:cs typeface="Calibri" pitchFamily="34" charset="-120"/>
              </a:rPr>
              <a:t>In the HTML page, click an evidence line to expand it to the source moment, and click Why this score to expand the five weighted terms with the arithmetic shown.</a:t>
            </a:r>
            <a:endParaRPr lang="en-US" sz="1400" dirty="0"/>
          </a:p>
        </p:txBody>
      </p:sp>
      <p:pic>
        <p:nvPicPr>
          <p:cNvPr id="7" name="Image 0" descr="/Users/jimabmatic.ai/momentive-bi-digest/bi-theme-digest-agent/deck/assets/12_w37_digest_first_screen.png">    </p:cNvPr>
          <p:cNvPicPr>
            <a:picLocks noChangeAspect="1"/>
          </p:cNvPicPr>
          <p:nvPr/>
        </p:nvPicPr>
        <p:blipFill>
          <a:blip r:embed="rId1"/>
          <a:stretch>
            <a:fillRect/>
          </a:stretch>
        </p:blipFill>
        <p:spPr>
          <a:xfrm>
            <a:off x="6126480" y="2331720"/>
            <a:ext cx="5486400" cy="2097451"/>
          </a:xfrm>
          <a:prstGeom prst="rect">
            <a:avLst/>
          </a:prstGeom>
        </p:spPr>
      </p:pic>
      <p:sp>
        <p:nvSpPr>
          <p:cNvPr id="8" name="Text 5"/>
          <p:cNvSpPr txBox="1"/>
          <p:nvPr/>
        </p:nvSpPr>
        <p:spPr>
          <a:xfrm>
            <a:off x="6126480" y="4663440"/>
            <a:ext cx="5486400" cy="548640"/>
          </a:xfrm>
          <a:prstGeom prst="rect">
            <a:avLst/>
          </a:prstGeom>
          <a:noFill/>
          <a:ln/>
        </p:spPr>
        <p:txBody>
          <a:bodyPr wrap="square" lIns="0" tIns="0" rIns="0" bIns="0" rtlCol="0" anchor="ctr"/>
          <a:lstStyle/>
          <a:p>
            <a:pPr indent="0" marL="0">
              <a:buNone/>
            </a:pPr>
            <a:r>
              <a:rPr lang="en-US" sz="1200" i="1" dirty="0">
                <a:solidFill>
                  <a:srgbClr val="6E7B85"/>
                </a:solidFill>
                <a:latin typeface="Calibri" pitchFamily="34" charset="0"/>
                <a:ea typeface="Calibri" pitchFamily="34" charset="-122"/>
                <a:cs typeface="Calibri" pitchFamily="34" charset="-120"/>
              </a:rPr>
              <a:t>The run line at the top of the markdown digest is the week in one sentence.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THE MAP</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What lives in each top level folder</a:t>
            </a:r>
            <a:endParaRPr lang="en-US" sz="3200" dirty="0"/>
          </a:p>
        </p:txBody>
      </p:sp>
      <p:sp>
        <p:nvSpPr>
          <p:cNvPr id="4" name="Text 2"/>
          <p:cNvSpPr txBox="1"/>
          <p:nvPr/>
        </p:nvSpPr>
        <p:spPr>
          <a:xfrm>
            <a:off x="548640" y="1417320"/>
            <a:ext cx="5394960" cy="438912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src/digest is the package. Everything that runs is in there.</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contracts is the schema pack, and it is the law. Every boundary validates against a file in it.</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mcp holds the two mock servers, Gong and Salesforce, which enforce read only access at the boundary.</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config holds models.yaml and models.cheap.yaml, the only runtime files that name a model.</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data/mock holds the generated corpus, the four hand written traps, the accounts and the PII name list.</a:t>
            </a:r>
            <a:endParaRPr lang="en-US" sz="1400" dirty="0"/>
          </a:p>
        </p:txBody>
      </p:sp>
      <p:sp>
        <p:nvSpPr>
          <p:cNvPr id="5" name="Text 3"/>
          <p:cNvSpPr txBox="1"/>
          <p:nvPr/>
        </p:nvSpPr>
        <p:spPr>
          <a:xfrm>
            <a:off x="6400800" y="1417320"/>
            <a:ext cx="5212080" cy="438912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tests holds 531 tests, one file per area, plus the fixtures.</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evals holds the golden set and its recorded results.</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docs holds decisions, governance, cost, production context, future builds, the verification guide and this orientation.</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deck holds the review deck, its outline and seventeen rendered panels.</a:t>
            </a:r>
            <a:endParaRPr lang="en-US" sz="1400" dirty="0"/>
          </a:p>
          <a:p>
            <a:pPr marL="342900" indent="-342900">
              <a:lnSpc>
                <a:spcPts val="2000"/>
              </a:lnSpc>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tools holds the corpus generator, .claude holds the same roles as subagents, .github holds the two crons.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THE MAP</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Every file under src/digest, in five groups</a:t>
            </a:r>
            <a:endParaRPr lang="en-US" sz="3200" dirty="0"/>
          </a:p>
        </p:txBody>
      </p:sp>
      <p:sp>
        <p:nvSpPr>
          <p:cNvPr id="4" name="Shape 2"/>
          <p:cNvSpPr/>
          <p:nvPr/>
        </p:nvSpPr>
        <p:spPr>
          <a:xfrm>
            <a:off x="548640" y="1417320"/>
            <a:ext cx="11064240" cy="932688"/>
          </a:xfrm>
          <a:prstGeom prst="roundRect">
            <a:avLst>
              <a:gd name="adj" fmla="val 5882"/>
            </a:avLst>
          </a:prstGeom>
          <a:solidFill>
            <a:srgbClr val="F2F2F2"/>
          </a:solidFill>
          <a:ln w="12700">
            <a:solidFill>
              <a:srgbClr val="F2F2F2"/>
            </a:solidFill>
            <a:prstDash val="solid"/>
          </a:ln>
        </p:spPr>
      </p:sp>
      <p:sp>
        <p:nvSpPr>
          <p:cNvPr id="5" name="Text 3"/>
          <p:cNvSpPr txBox="1"/>
          <p:nvPr/>
        </p:nvSpPr>
        <p:spPr>
          <a:xfrm>
            <a:off x="777240" y="1508760"/>
            <a:ext cx="1828800" cy="7498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Top level</a:t>
            </a:r>
            <a:endParaRPr lang="en-US" sz="1400" dirty="0"/>
          </a:p>
        </p:txBody>
      </p:sp>
      <p:sp>
        <p:nvSpPr>
          <p:cNvPr id="6" name="Text 4"/>
          <p:cNvSpPr txBox="1"/>
          <p:nvPr/>
        </p:nvSpPr>
        <p:spPr>
          <a:xfrm>
            <a:off x="2606040" y="1508760"/>
            <a:ext cx="8961120" cy="749808"/>
          </a:xfrm>
          <a:prstGeom prst="rect">
            <a:avLst/>
          </a:prstGeom>
          <a:noFill/>
          <a:ln/>
        </p:spPr>
        <p:txBody>
          <a:bodyPr wrap="square" lIns="0" tIns="0" rIns="0" bIns="0" rtlCol="0" anchor="ctr"/>
          <a:lstStyle/>
          <a:p>
            <a:pPr indent="0" marL="0">
              <a:lnSpc>
                <a:spcPts val="1500"/>
              </a:lnSpc>
              <a:buNone/>
            </a:pPr>
            <a:r>
              <a:rPr lang="en-US" sz="1150" dirty="0">
                <a:solidFill>
                  <a:srgbClr val="36454F"/>
                </a:solidFill>
                <a:latin typeface="Calibri" pitchFamily="34" charset="0"/>
                <a:ea typeface="Calibri" pitchFamily="34" charset="-122"/>
                <a:cs typeface="Calibri" pitchFamily="34" charset="-120"/>
              </a:rPr>
              <a:t>pipeline.py runs a day, a week and the demo. router.py is the model seam. store.py is the only module that writes to the store. audit.py logs one event per action. contracts.py, errors.py, verify.py, enrich.py, score.py, eval.py, swap.py, gate.py and the CLI in __main__.py.</a:t>
            </a:r>
            <a:endParaRPr lang="en-US" sz="1150" dirty="0"/>
          </a:p>
        </p:txBody>
      </p:sp>
      <p:sp>
        <p:nvSpPr>
          <p:cNvPr id="7" name="Shape 5"/>
          <p:cNvSpPr/>
          <p:nvPr/>
        </p:nvSpPr>
        <p:spPr>
          <a:xfrm>
            <a:off x="548640" y="2478024"/>
            <a:ext cx="11064240" cy="932688"/>
          </a:xfrm>
          <a:prstGeom prst="roundRect">
            <a:avLst>
              <a:gd name="adj" fmla="val 5882"/>
            </a:avLst>
          </a:prstGeom>
          <a:solidFill>
            <a:srgbClr val="F2F2F2"/>
          </a:solidFill>
          <a:ln w="12700">
            <a:solidFill>
              <a:srgbClr val="F2F2F2"/>
            </a:solidFill>
            <a:prstDash val="solid"/>
          </a:ln>
        </p:spPr>
      </p:sp>
      <p:sp>
        <p:nvSpPr>
          <p:cNvPr id="8" name="Text 6"/>
          <p:cNvSpPr txBox="1"/>
          <p:nvPr/>
        </p:nvSpPr>
        <p:spPr>
          <a:xfrm>
            <a:off x="777240" y="2569464"/>
            <a:ext cx="1828800" cy="7498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connectors</a:t>
            </a:r>
            <a:endParaRPr lang="en-US" sz="1400" dirty="0"/>
          </a:p>
        </p:txBody>
      </p:sp>
      <p:sp>
        <p:nvSpPr>
          <p:cNvPr id="9" name="Text 7"/>
          <p:cNvSpPr txBox="1"/>
          <p:nvPr/>
        </p:nvSpPr>
        <p:spPr>
          <a:xfrm>
            <a:off x="2606040" y="2569464"/>
            <a:ext cx="8961120" cy="749808"/>
          </a:xfrm>
          <a:prstGeom prst="rect">
            <a:avLst/>
          </a:prstGeom>
          <a:noFill/>
          <a:ln/>
        </p:spPr>
        <p:txBody>
          <a:bodyPr wrap="square" lIns="0" tIns="0" rIns="0" bIns="0" rtlCol="0" anchor="ctr"/>
          <a:lstStyle/>
          <a:p>
            <a:pPr indent="0" marL="0">
              <a:lnSpc>
                <a:spcPts val="1500"/>
              </a:lnSpc>
              <a:buNone/>
            </a:pPr>
            <a:r>
              <a:rPr lang="en-US" sz="1150" dirty="0">
                <a:solidFill>
                  <a:srgbClr val="36454F"/>
                </a:solidFill>
                <a:latin typeface="Calibri" pitchFamily="34" charset="0"/>
                <a:ea typeface="Calibri" pitchFamily="34" charset="-122"/>
                <a:cs typeface="Calibri" pitchFamily="34" charset="-120"/>
              </a:rPr>
              <a:t>base.py is the protocol, gong.py and salesforce.py are the two implementations, mcp_client.py is a synchronous client over an asynchronous SDK.</a:t>
            </a:r>
            <a:endParaRPr lang="en-US" sz="1150" dirty="0"/>
          </a:p>
        </p:txBody>
      </p:sp>
      <p:sp>
        <p:nvSpPr>
          <p:cNvPr id="10" name="Shape 8"/>
          <p:cNvSpPr/>
          <p:nvPr/>
        </p:nvSpPr>
        <p:spPr>
          <a:xfrm>
            <a:off x="548640" y="3538728"/>
            <a:ext cx="11064240" cy="932688"/>
          </a:xfrm>
          <a:prstGeom prst="roundRect">
            <a:avLst>
              <a:gd name="adj" fmla="val 5882"/>
            </a:avLst>
          </a:prstGeom>
          <a:solidFill>
            <a:srgbClr val="F2F2F2"/>
          </a:solidFill>
          <a:ln w="12700">
            <a:solidFill>
              <a:srgbClr val="F2F2F2"/>
            </a:solidFill>
            <a:prstDash val="solid"/>
          </a:ln>
        </p:spPr>
      </p:sp>
      <p:sp>
        <p:nvSpPr>
          <p:cNvPr id="11" name="Text 9"/>
          <p:cNvSpPr txBox="1"/>
          <p:nvPr/>
        </p:nvSpPr>
        <p:spPr>
          <a:xfrm>
            <a:off x="777240" y="3630168"/>
            <a:ext cx="1828800" cy="7498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agents</a:t>
            </a:r>
            <a:endParaRPr lang="en-US" sz="1400" dirty="0"/>
          </a:p>
        </p:txBody>
      </p:sp>
      <p:sp>
        <p:nvSpPr>
          <p:cNvPr id="12" name="Text 10"/>
          <p:cNvSpPr txBox="1"/>
          <p:nvPr/>
        </p:nvSpPr>
        <p:spPr>
          <a:xfrm>
            <a:off x="2606040" y="3630168"/>
            <a:ext cx="8961120" cy="749808"/>
          </a:xfrm>
          <a:prstGeom prst="rect">
            <a:avLst/>
          </a:prstGeom>
          <a:noFill/>
          <a:ln/>
        </p:spPr>
        <p:txBody>
          <a:bodyPr wrap="square" lIns="0" tIns="0" rIns="0" bIns="0" rtlCol="0" anchor="ctr"/>
          <a:lstStyle/>
          <a:p>
            <a:pPr indent="0" marL="0">
              <a:lnSpc>
                <a:spcPts val="1500"/>
              </a:lnSpc>
              <a:buNone/>
            </a:pPr>
            <a:r>
              <a:rPr lang="en-US" sz="1150" dirty="0">
                <a:solidFill>
                  <a:srgbClr val="36454F"/>
                </a:solidFill>
                <a:latin typeface="Calibri" pitchFamily="34" charset="0"/>
                <a:ea typeface="Calibri" pitchFamily="34" charset="-122"/>
                <a:cs typeface="Calibri" pitchFamily="34" charset="-120"/>
              </a:rPr>
              <a:t>readers/reader.py plus two extraction prompts. editor/editor.py, tools.py and two prompts. analyst/analyst.py, retrieval.py and one prompt.</a:t>
            </a:r>
            <a:endParaRPr lang="en-US" sz="1150" dirty="0"/>
          </a:p>
        </p:txBody>
      </p:sp>
      <p:sp>
        <p:nvSpPr>
          <p:cNvPr id="13" name="Shape 11"/>
          <p:cNvSpPr/>
          <p:nvPr/>
        </p:nvSpPr>
        <p:spPr>
          <a:xfrm>
            <a:off x="548640" y="4599432"/>
            <a:ext cx="11064240" cy="932688"/>
          </a:xfrm>
          <a:prstGeom prst="roundRect">
            <a:avLst>
              <a:gd name="adj" fmla="val 5882"/>
            </a:avLst>
          </a:prstGeom>
          <a:solidFill>
            <a:srgbClr val="F2F2F2"/>
          </a:solidFill>
          <a:ln w="12700">
            <a:solidFill>
              <a:srgbClr val="F2F2F2"/>
            </a:solidFill>
            <a:prstDash val="solid"/>
          </a:ln>
        </p:spPr>
      </p:sp>
      <p:sp>
        <p:nvSpPr>
          <p:cNvPr id="14" name="Text 12"/>
          <p:cNvSpPr txBox="1"/>
          <p:nvPr/>
        </p:nvSpPr>
        <p:spPr>
          <a:xfrm>
            <a:off x="777240" y="4690872"/>
            <a:ext cx="1828800" cy="7498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providers</a:t>
            </a:r>
            <a:endParaRPr lang="en-US" sz="1400" dirty="0"/>
          </a:p>
        </p:txBody>
      </p:sp>
      <p:sp>
        <p:nvSpPr>
          <p:cNvPr id="15" name="Text 13"/>
          <p:cNvSpPr txBox="1"/>
          <p:nvPr/>
        </p:nvSpPr>
        <p:spPr>
          <a:xfrm>
            <a:off x="2606040" y="4690872"/>
            <a:ext cx="8961120" cy="749808"/>
          </a:xfrm>
          <a:prstGeom prst="rect">
            <a:avLst/>
          </a:prstGeom>
          <a:noFill/>
          <a:ln/>
        </p:spPr>
        <p:txBody>
          <a:bodyPr wrap="square" lIns="0" tIns="0" rIns="0" bIns="0" rtlCol="0" anchor="ctr"/>
          <a:lstStyle/>
          <a:p>
            <a:pPr indent="0" marL="0">
              <a:lnSpc>
                <a:spcPts val="1500"/>
              </a:lnSpc>
              <a:buNone/>
            </a:pPr>
            <a:r>
              <a:rPr lang="en-US" sz="1150" dirty="0">
                <a:solidFill>
                  <a:srgbClr val="36454F"/>
                </a:solidFill>
                <a:latin typeface="Calibri" pitchFamily="34" charset="0"/>
                <a:ea typeface="Calibri" pitchFamily="34" charset="-122"/>
                <a:cs typeface="Calibri" pitchFamily="34" charset="-120"/>
              </a:rPr>
              <a:t>agent_sdk_seat.py is the working default, anthropic_direct.py is implemented and unit tested, bedrock, vertex, foundry and openai_compatible are honest stubs with real model id translation. _families.py holds the per family thinking rules.</a:t>
            </a:r>
            <a:endParaRPr lang="en-US" sz="1150" dirty="0"/>
          </a:p>
        </p:txBody>
      </p:sp>
      <p:sp>
        <p:nvSpPr>
          <p:cNvPr id="16" name="Shape 14"/>
          <p:cNvSpPr/>
          <p:nvPr/>
        </p:nvSpPr>
        <p:spPr>
          <a:xfrm>
            <a:off x="548640" y="5660136"/>
            <a:ext cx="11064240" cy="932688"/>
          </a:xfrm>
          <a:prstGeom prst="roundRect">
            <a:avLst>
              <a:gd name="adj" fmla="val 5882"/>
            </a:avLst>
          </a:prstGeom>
          <a:solidFill>
            <a:srgbClr val="F2F2F2"/>
          </a:solidFill>
          <a:ln w="12700">
            <a:solidFill>
              <a:srgbClr val="F2F2F2"/>
            </a:solidFill>
            <a:prstDash val="solid"/>
          </a:ln>
        </p:spPr>
      </p:sp>
      <p:sp>
        <p:nvSpPr>
          <p:cNvPr id="17" name="Text 15"/>
          <p:cNvSpPr txBox="1"/>
          <p:nvPr/>
        </p:nvSpPr>
        <p:spPr>
          <a:xfrm>
            <a:off x="777240" y="5751576"/>
            <a:ext cx="1828800" cy="7498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pii and render</a:t>
            </a:r>
            <a:endParaRPr lang="en-US" sz="1400" dirty="0"/>
          </a:p>
        </p:txBody>
      </p:sp>
      <p:sp>
        <p:nvSpPr>
          <p:cNvPr id="18" name="Text 16"/>
          <p:cNvSpPr txBox="1"/>
          <p:nvPr/>
        </p:nvSpPr>
        <p:spPr>
          <a:xfrm>
            <a:off x="2606040" y="5751576"/>
            <a:ext cx="8961120" cy="749808"/>
          </a:xfrm>
          <a:prstGeom prst="rect">
            <a:avLst/>
          </a:prstGeom>
          <a:noFill/>
          <a:ln/>
        </p:spPr>
        <p:txBody>
          <a:bodyPr wrap="square" lIns="0" tIns="0" rIns="0" bIns="0" rtlCol="0" anchor="ctr"/>
          <a:lstStyle/>
          <a:p>
            <a:pPr indent="0" marL="0">
              <a:lnSpc>
                <a:spcPts val="1500"/>
              </a:lnSpc>
              <a:buNone/>
            </a:pPr>
            <a:r>
              <a:rPr lang="en-US" sz="1150" dirty="0">
                <a:solidFill>
                  <a:srgbClr val="36454F"/>
                </a:solidFill>
                <a:latin typeface="Calibri" pitchFamily="34" charset="0"/>
                <a:ea typeface="Calibri" pitchFamily="34" charset="-122"/>
                <a:cs typeface="Calibri" pitchFamily="34" charset="-120"/>
              </a:rPr>
              <a:t>pii/scrubber.py runs four regex passes before any model call. render holds markdown.py, html.py, citations.py and scoring.py.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THE PIPELINE IN MY OWN WORDS</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Nine stages. Eight are code, one is judgment</a:t>
            </a:r>
            <a:endParaRPr lang="en-US" sz="3200" dirty="0"/>
          </a:p>
        </p:txBody>
      </p:sp>
      <p:sp>
        <p:nvSpPr>
          <p:cNvPr id="4" name="Text 2"/>
          <p:cNvSpPr txBox="1"/>
          <p:nvPr/>
        </p:nvSpPr>
        <p:spPr>
          <a:xfrm>
            <a:off x="548640" y="1417320"/>
            <a:ext cx="5212080" cy="4206240"/>
          </a:xfrm>
          <a:prstGeom prst="rect">
            <a:avLst/>
          </a:prstGeom>
          <a:noFill/>
          <a:ln/>
        </p:spPr>
        <p:txBody>
          <a:bodyPr wrap="square" lIns="0" tIns="0" rIns="0" bIns="0" rtlCol="0" anchor="t"/>
          <a:lstStyle/>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1. Connect: connectors and mcp. No model.</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2. Scrub: pii/scrubber.py. No model.</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3. Extract: agents/readers/reader.py, extraction tier.</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4. Validate and verify: verify.py. No model.</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5. Enrich: enrich.py. No model.</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6. Edit: agents/editor/editor.py, synthesis tier.</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7. Score: score.py. No model.</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8. Write and commit: store.py, render, audit.py.</a:t>
            </a:r>
            <a:endParaRPr lang="en-US" sz="1400" dirty="0"/>
          </a:p>
          <a:p>
            <a:pPr indent="0" marL="0">
              <a:lnSpc>
                <a:spcPts val="2100"/>
              </a:lnSpc>
              <a:spcAft>
                <a:spcPts val="1000"/>
              </a:spcAft>
              <a:buNone/>
            </a:pPr>
            <a:r>
              <a:rPr lang="en-US" sz="1400" dirty="0">
                <a:solidFill>
                  <a:srgbClr val="36454F"/>
                </a:solidFill>
                <a:latin typeface="Calibri" pitchFamily="34" charset="0"/>
                <a:ea typeface="Calibri" pitchFamily="34" charset="-122"/>
                <a:cs typeface="Calibri" pitchFamily="34" charset="-120"/>
              </a:rPr>
              <a:t>9. Gate: gate.py. Nothing is filed without a person.</a:t>
            </a:r>
            <a:endParaRPr lang="en-US" sz="1400" dirty="0"/>
          </a:p>
        </p:txBody>
      </p:sp>
      <p:sp>
        <p:nvSpPr>
          <p:cNvPr id="5" name="Text 3"/>
          <p:cNvSpPr txBox="1"/>
          <p:nvPr/>
        </p:nvSpPr>
        <p:spPr>
          <a:xfrm>
            <a:off x="548640" y="5669280"/>
            <a:ext cx="5120640" cy="640080"/>
          </a:xfrm>
          <a:prstGeom prst="rect">
            <a:avLst/>
          </a:prstGeom>
          <a:noFill/>
          <a:ln/>
        </p:spPr>
        <p:txBody>
          <a:bodyPr wrap="square" lIns="0" tIns="0" rIns="0" bIns="0" rtlCol="0" anchor="ctr"/>
          <a:lstStyle/>
          <a:p>
            <a:pPr indent="0" marL="0">
              <a:buNone/>
            </a:pPr>
            <a:r>
              <a:rPr lang="en-US" sz="1200" i="1" dirty="0">
                <a:solidFill>
                  <a:srgbClr val="6E7B85"/>
                </a:solidFill>
                <a:latin typeface="Calibri" pitchFamily="34" charset="0"/>
                <a:ea typeface="Calibri" pitchFamily="34" charset="-122"/>
                <a:cs typeface="Calibri" pitchFamily="34" charset="-120"/>
              </a:rPr>
              <a:t>Off to the side, make ask runs the analyst on the narrative tier over the theme store only, with no access to the sources.</a:t>
            </a:r>
            <a:endParaRPr lang="en-US" sz="1200" dirty="0"/>
          </a:p>
        </p:txBody>
      </p:sp>
      <p:pic>
        <p:nvPicPr>
          <p:cNvPr id="6" name="Image 0" descr="/Users/jimabmatic.ai/momentive-bi-digest/bi-theme-digest-agent/deck/assets/01_pipeline_diagram.png">    </p:cNvPr>
          <p:cNvPicPr>
            <a:picLocks noChangeAspect="1"/>
          </p:cNvPicPr>
          <p:nvPr/>
        </p:nvPicPr>
        <p:blipFill>
          <a:blip r:embed="rId1"/>
          <a:stretch>
            <a:fillRect/>
          </a:stretch>
        </p:blipFill>
        <p:spPr>
          <a:xfrm>
            <a:off x="6126480" y="1371600"/>
            <a:ext cx="5486400" cy="40517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THE PIPELINE IN MY OWN WORDS</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Which tier runs where, and where the prompt lives</a:t>
            </a:r>
            <a:endParaRPr lang="en-US" sz="3200" dirty="0"/>
          </a:p>
        </p:txBody>
      </p:sp>
      <p:sp>
        <p:nvSpPr>
          <p:cNvPr id="4" name="Shape 2"/>
          <p:cNvSpPr/>
          <p:nvPr/>
        </p:nvSpPr>
        <p:spPr>
          <a:xfrm>
            <a:off x="548640" y="1463040"/>
            <a:ext cx="11064240" cy="1234440"/>
          </a:xfrm>
          <a:prstGeom prst="roundRect">
            <a:avLst>
              <a:gd name="adj" fmla="val 4444"/>
            </a:avLst>
          </a:prstGeom>
          <a:solidFill>
            <a:srgbClr val="F2F2F2"/>
          </a:solidFill>
          <a:ln w="12700">
            <a:solidFill>
              <a:srgbClr val="F2F2F2"/>
            </a:solidFill>
            <a:prstDash val="solid"/>
          </a:ln>
        </p:spPr>
      </p:sp>
      <p:sp>
        <p:nvSpPr>
          <p:cNvPr id="5" name="Text 3"/>
          <p:cNvSpPr txBox="1"/>
          <p:nvPr/>
        </p:nvSpPr>
        <p:spPr>
          <a:xfrm>
            <a:off x="777240" y="1627632"/>
            <a:ext cx="1828800" cy="365760"/>
          </a:xfrm>
          <a:prstGeom prst="rect">
            <a:avLst/>
          </a:prstGeom>
          <a:noFill/>
          <a:ln/>
        </p:spPr>
        <p:txBody>
          <a:bodyPr wrap="square" lIns="0" tIns="0" rIns="0" bIns="0" rtlCol="0" anchor="ctr"/>
          <a:lstStyle/>
          <a:p>
            <a:pPr indent="0" marL="0">
              <a:buNone/>
            </a:pPr>
            <a:r>
              <a:rPr lang="en-US" sz="1900" b="1" dirty="0">
                <a:solidFill>
                  <a:srgbClr val="50808E"/>
                </a:solidFill>
                <a:latin typeface="Cambria" pitchFamily="34" charset="0"/>
                <a:ea typeface="Cambria" pitchFamily="34" charset="-122"/>
                <a:cs typeface="Cambria" pitchFamily="34" charset="-120"/>
              </a:rPr>
              <a:t>extraction</a:t>
            </a:r>
            <a:endParaRPr lang="en-US" sz="1900" dirty="0"/>
          </a:p>
        </p:txBody>
      </p:sp>
      <p:sp>
        <p:nvSpPr>
          <p:cNvPr id="6" name="Text 4"/>
          <p:cNvSpPr txBox="1"/>
          <p:nvPr/>
        </p:nvSpPr>
        <p:spPr>
          <a:xfrm>
            <a:off x="777240" y="2066544"/>
            <a:ext cx="2194560" cy="365760"/>
          </a:xfrm>
          <a:prstGeom prst="rect">
            <a:avLst/>
          </a:prstGeom>
          <a:noFill/>
          <a:ln/>
        </p:spPr>
        <p:txBody>
          <a:bodyPr wrap="square" lIns="0" tIns="0" rIns="0" bIns="0" rtlCol="0" anchor="ctr"/>
          <a:lstStyle/>
          <a:p>
            <a:pPr indent="0" marL="0">
              <a:buNone/>
            </a:pPr>
            <a:r>
              <a:rPr lang="en-US" sz="1100" dirty="0">
                <a:solidFill>
                  <a:srgbClr val="6E7B85"/>
                </a:solidFill>
                <a:latin typeface="Courier New" pitchFamily="34" charset="0"/>
                <a:ea typeface="Courier New" pitchFamily="34" charset="-122"/>
                <a:cs typeface="Courier New" pitchFamily="34" charset="-120"/>
              </a:rPr>
              <a:t>claude-haiku-4-5</a:t>
            </a:r>
            <a:endParaRPr lang="en-US" sz="1100" dirty="0"/>
          </a:p>
        </p:txBody>
      </p:sp>
      <p:sp>
        <p:nvSpPr>
          <p:cNvPr id="7" name="Text 5"/>
          <p:cNvSpPr txBox="1"/>
          <p:nvPr/>
        </p:nvSpPr>
        <p:spPr>
          <a:xfrm>
            <a:off x="3200400" y="1645920"/>
            <a:ext cx="8321040" cy="868680"/>
          </a:xfrm>
          <a:prstGeom prst="rect">
            <a:avLst/>
          </a:prstGeom>
          <a:noFill/>
          <a:ln/>
        </p:spPr>
        <p:txBody>
          <a:bodyPr wrap="square" lIns="0" tIns="0" rIns="0" bIns="0" rtlCol="0" anchor="ctr"/>
          <a:lstStyle/>
          <a:p>
            <a:pPr indent="0" marL="0">
              <a:lnSpc>
                <a:spcPts val="1800"/>
              </a:lnSpc>
              <a:buNone/>
            </a:pPr>
            <a:r>
              <a:rPr lang="en-US" sz="1300" dirty="0">
                <a:solidFill>
                  <a:srgbClr val="36454F"/>
                </a:solidFill>
                <a:latin typeface="Calibri" pitchFamily="34" charset="0"/>
                <a:ea typeface="Calibri" pitchFamily="34" charset="-122"/>
                <a:cs typeface="Calibri" pitchFamily="34" charset="-120"/>
              </a:rPr>
              <a:t>gong_reader.prompt.md and sfdc_reader.prompt.md, both at version 1.2.0. One scrubbed document in, one ReaderOutput out, no tools and no store.</a:t>
            </a:r>
            <a:endParaRPr lang="en-US" sz="1300" dirty="0"/>
          </a:p>
        </p:txBody>
      </p:sp>
      <p:sp>
        <p:nvSpPr>
          <p:cNvPr id="8" name="Shape 6"/>
          <p:cNvSpPr/>
          <p:nvPr/>
        </p:nvSpPr>
        <p:spPr>
          <a:xfrm>
            <a:off x="548640" y="2880360"/>
            <a:ext cx="11064240" cy="1234440"/>
          </a:xfrm>
          <a:prstGeom prst="roundRect">
            <a:avLst>
              <a:gd name="adj" fmla="val 4444"/>
            </a:avLst>
          </a:prstGeom>
          <a:solidFill>
            <a:srgbClr val="F2F2F2"/>
          </a:solidFill>
          <a:ln w="12700">
            <a:solidFill>
              <a:srgbClr val="F2F2F2"/>
            </a:solidFill>
            <a:prstDash val="solid"/>
          </a:ln>
        </p:spPr>
      </p:sp>
      <p:sp>
        <p:nvSpPr>
          <p:cNvPr id="9" name="Text 7"/>
          <p:cNvSpPr txBox="1"/>
          <p:nvPr/>
        </p:nvSpPr>
        <p:spPr>
          <a:xfrm>
            <a:off x="777240" y="3044952"/>
            <a:ext cx="1828800" cy="365760"/>
          </a:xfrm>
          <a:prstGeom prst="rect">
            <a:avLst/>
          </a:prstGeom>
          <a:noFill/>
          <a:ln/>
        </p:spPr>
        <p:txBody>
          <a:bodyPr wrap="square" lIns="0" tIns="0" rIns="0" bIns="0" rtlCol="0" anchor="ctr"/>
          <a:lstStyle/>
          <a:p>
            <a:pPr indent="0" marL="0">
              <a:buNone/>
            </a:pPr>
            <a:r>
              <a:rPr lang="en-US" sz="1900" b="1" dirty="0">
                <a:solidFill>
                  <a:srgbClr val="50808E"/>
                </a:solidFill>
                <a:latin typeface="Cambria" pitchFamily="34" charset="0"/>
                <a:ea typeface="Cambria" pitchFamily="34" charset="-122"/>
                <a:cs typeface="Cambria" pitchFamily="34" charset="-120"/>
              </a:rPr>
              <a:t>synthesis</a:t>
            </a:r>
            <a:endParaRPr lang="en-US" sz="1900" dirty="0"/>
          </a:p>
        </p:txBody>
      </p:sp>
      <p:sp>
        <p:nvSpPr>
          <p:cNvPr id="10" name="Text 8"/>
          <p:cNvSpPr txBox="1"/>
          <p:nvPr/>
        </p:nvSpPr>
        <p:spPr>
          <a:xfrm>
            <a:off x="777240" y="3483864"/>
            <a:ext cx="2194560" cy="365760"/>
          </a:xfrm>
          <a:prstGeom prst="rect">
            <a:avLst/>
          </a:prstGeom>
          <a:noFill/>
          <a:ln/>
        </p:spPr>
        <p:txBody>
          <a:bodyPr wrap="square" lIns="0" tIns="0" rIns="0" bIns="0" rtlCol="0" anchor="ctr"/>
          <a:lstStyle/>
          <a:p>
            <a:pPr indent="0" marL="0">
              <a:buNone/>
            </a:pPr>
            <a:r>
              <a:rPr lang="en-US" sz="1100" dirty="0">
                <a:solidFill>
                  <a:srgbClr val="6E7B85"/>
                </a:solidFill>
                <a:latin typeface="Courier New" pitchFamily="34" charset="0"/>
                <a:ea typeface="Courier New" pitchFamily="34" charset="-122"/>
                <a:cs typeface="Courier New" pitchFamily="34" charset="-120"/>
              </a:rPr>
              <a:t>claude-opus-5</a:t>
            </a:r>
            <a:endParaRPr lang="en-US" sz="1100" dirty="0"/>
          </a:p>
        </p:txBody>
      </p:sp>
      <p:sp>
        <p:nvSpPr>
          <p:cNvPr id="11" name="Text 9"/>
          <p:cNvSpPr txBox="1"/>
          <p:nvPr/>
        </p:nvSpPr>
        <p:spPr>
          <a:xfrm>
            <a:off x="3200400" y="3063240"/>
            <a:ext cx="8321040" cy="868680"/>
          </a:xfrm>
          <a:prstGeom prst="rect">
            <a:avLst/>
          </a:prstGeom>
          <a:noFill/>
          <a:ln/>
        </p:spPr>
        <p:txBody>
          <a:bodyPr wrap="square" lIns="0" tIns="0" rIns="0" bIns="0" rtlCol="0" anchor="ctr"/>
          <a:lstStyle/>
          <a:p>
            <a:pPr indent="0" marL="0">
              <a:lnSpc>
                <a:spcPts val="1800"/>
              </a:lnSpc>
              <a:buNone/>
            </a:pPr>
            <a:r>
              <a:rPr lang="en-US" sz="1300" dirty="0">
                <a:solidFill>
                  <a:srgbClr val="36454F"/>
                </a:solidFill>
                <a:latin typeface="Calibri" pitchFamily="34" charset="0"/>
                <a:ea typeface="Calibri" pitchFamily="34" charset="-122"/>
                <a:cs typeface="Calibri" pitchFamily="34" charset="-120"/>
              </a:rPr>
              <a:t>theme_request.prompt.md is call one and names the themes it needs. editor.prompt.md is call two and returns the proposal. Four read only tools and no write tool anywhere.</a:t>
            </a:r>
            <a:endParaRPr lang="en-US" sz="1300" dirty="0"/>
          </a:p>
        </p:txBody>
      </p:sp>
      <p:sp>
        <p:nvSpPr>
          <p:cNvPr id="12" name="Shape 10"/>
          <p:cNvSpPr/>
          <p:nvPr/>
        </p:nvSpPr>
        <p:spPr>
          <a:xfrm>
            <a:off x="548640" y="4297680"/>
            <a:ext cx="11064240" cy="1234440"/>
          </a:xfrm>
          <a:prstGeom prst="roundRect">
            <a:avLst>
              <a:gd name="adj" fmla="val 4444"/>
            </a:avLst>
          </a:prstGeom>
          <a:solidFill>
            <a:srgbClr val="F2F2F2"/>
          </a:solidFill>
          <a:ln w="12700">
            <a:solidFill>
              <a:srgbClr val="F2F2F2"/>
            </a:solidFill>
            <a:prstDash val="solid"/>
          </a:ln>
        </p:spPr>
      </p:sp>
      <p:sp>
        <p:nvSpPr>
          <p:cNvPr id="13" name="Text 11"/>
          <p:cNvSpPr txBox="1"/>
          <p:nvPr/>
        </p:nvSpPr>
        <p:spPr>
          <a:xfrm>
            <a:off x="777240" y="4462272"/>
            <a:ext cx="1828800" cy="365760"/>
          </a:xfrm>
          <a:prstGeom prst="rect">
            <a:avLst/>
          </a:prstGeom>
          <a:noFill/>
          <a:ln/>
        </p:spPr>
        <p:txBody>
          <a:bodyPr wrap="square" lIns="0" tIns="0" rIns="0" bIns="0" rtlCol="0" anchor="ctr"/>
          <a:lstStyle/>
          <a:p>
            <a:pPr indent="0" marL="0">
              <a:buNone/>
            </a:pPr>
            <a:r>
              <a:rPr lang="en-US" sz="1900" b="1" dirty="0">
                <a:solidFill>
                  <a:srgbClr val="50808E"/>
                </a:solidFill>
                <a:latin typeface="Cambria" pitchFamily="34" charset="0"/>
                <a:ea typeface="Cambria" pitchFamily="34" charset="-122"/>
                <a:cs typeface="Cambria" pitchFamily="34" charset="-120"/>
              </a:rPr>
              <a:t>narrative</a:t>
            </a:r>
            <a:endParaRPr lang="en-US" sz="1900" dirty="0"/>
          </a:p>
        </p:txBody>
      </p:sp>
      <p:sp>
        <p:nvSpPr>
          <p:cNvPr id="14" name="Text 12"/>
          <p:cNvSpPr txBox="1"/>
          <p:nvPr/>
        </p:nvSpPr>
        <p:spPr>
          <a:xfrm>
            <a:off x="777240" y="4901184"/>
            <a:ext cx="2194560" cy="365760"/>
          </a:xfrm>
          <a:prstGeom prst="rect">
            <a:avLst/>
          </a:prstGeom>
          <a:noFill/>
          <a:ln/>
        </p:spPr>
        <p:txBody>
          <a:bodyPr wrap="square" lIns="0" tIns="0" rIns="0" bIns="0" rtlCol="0" anchor="ctr"/>
          <a:lstStyle/>
          <a:p>
            <a:pPr indent="0" marL="0">
              <a:buNone/>
            </a:pPr>
            <a:r>
              <a:rPr lang="en-US" sz="1100" dirty="0">
                <a:solidFill>
                  <a:srgbClr val="6E7B85"/>
                </a:solidFill>
                <a:latin typeface="Courier New" pitchFamily="34" charset="0"/>
                <a:ea typeface="Courier New" pitchFamily="34" charset="-122"/>
                <a:cs typeface="Courier New" pitchFamily="34" charset="-120"/>
              </a:rPr>
              <a:t>claude-opus-5</a:t>
            </a:r>
            <a:endParaRPr lang="en-US" sz="1100" dirty="0"/>
          </a:p>
        </p:txBody>
      </p:sp>
      <p:sp>
        <p:nvSpPr>
          <p:cNvPr id="15" name="Text 13"/>
          <p:cNvSpPr txBox="1"/>
          <p:nvPr/>
        </p:nvSpPr>
        <p:spPr>
          <a:xfrm>
            <a:off x="3200400" y="4480560"/>
            <a:ext cx="8321040" cy="868680"/>
          </a:xfrm>
          <a:prstGeom prst="rect">
            <a:avLst/>
          </a:prstGeom>
          <a:noFill/>
          <a:ln/>
        </p:spPr>
        <p:txBody>
          <a:bodyPr wrap="square" lIns="0" tIns="0" rIns="0" bIns="0" rtlCol="0" anchor="ctr"/>
          <a:lstStyle/>
          <a:p>
            <a:pPr indent="0" marL="0">
              <a:lnSpc>
                <a:spcPts val="1800"/>
              </a:lnSpc>
              <a:buNone/>
            </a:pPr>
            <a:r>
              <a:rPr lang="en-US" sz="1300" dirty="0">
                <a:solidFill>
                  <a:srgbClr val="36454F"/>
                </a:solidFill>
                <a:latin typeface="Calibri" pitchFamily="34" charset="0"/>
                <a:ea typeface="Calibri" pitchFamily="34" charset="-122"/>
                <a:cs typeface="Calibri" pitchFamily="34" charset="-120"/>
              </a:rPr>
              <a:t>analyst.prompt.md. One question in, one grounded answer out, and it declines when the store does not support an answer.</a:t>
            </a:r>
            <a:endParaRPr lang="en-US" sz="1300" dirty="0"/>
          </a:p>
        </p:txBody>
      </p:sp>
      <p:sp>
        <p:nvSpPr>
          <p:cNvPr id="16" name="Text 14"/>
          <p:cNvSpPr txBox="1"/>
          <p:nvPr/>
        </p:nvSpPr>
        <p:spPr>
          <a:xfrm>
            <a:off x="548640" y="5806440"/>
            <a:ext cx="10515600" cy="548640"/>
          </a:xfrm>
          <a:prstGeom prst="rect">
            <a:avLst/>
          </a:prstGeom>
          <a:noFill/>
          <a:ln/>
        </p:spPr>
        <p:txBody>
          <a:bodyPr wrap="square" lIns="0" tIns="0" rIns="0" bIns="0" rtlCol="0" anchor="ctr"/>
          <a:lstStyle/>
          <a:p>
            <a:pPr indent="0" marL="0">
              <a:buNone/>
            </a:pPr>
            <a:r>
              <a:rPr lang="en-US" sz="1300" dirty="0">
                <a:solidFill>
                  <a:srgbClr val="36454F"/>
                </a:solidFill>
                <a:latin typeface="Calibri" pitchFamily="34" charset="0"/>
                <a:ea typeface="Calibri" pitchFamily="34" charset="-122"/>
                <a:cs typeface="Calibri" pitchFamily="34" charset="-120"/>
              </a:rPr>
              <a:t>No model id appears anywhere under src. Every call site asks for a tier, and config/models.yaml is the only runtime file that names a model.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THE STORE</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Three layers, a watermark, and an evidence trail</a:t>
            </a:r>
            <a:endParaRPr lang="en-US" sz="3200" dirty="0"/>
          </a:p>
        </p:txBody>
      </p:sp>
      <p:sp>
        <p:nvSpPr>
          <p:cNvPr id="4" name="Text 2"/>
          <p:cNvSpPr txBox="1"/>
          <p:nvPr/>
        </p:nvSpPr>
        <p:spPr>
          <a:xfrm>
            <a:off x="548640" y="1371600"/>
            <a:ext cx="11064240" cy="1005840"/>
          </a:xfrm>
          <a:prstGeom prst="rect">
            <a:avLst/>
          </a:prstGeom>
          <a:noFill/>
          <a:ln/>
        </p:spPr>
        <p:txBody>
          <a:bodyPr wrap="square" lIns="0" tIns="0" rIns="0" bIns="0" rtlCol="0" anchor="t"/>
          <a:lstStyle/>
          <a:p>
            <a:pPr indent="0" marL="0">
              <a:lnSpc>
                <a:spcPts val="2000"/>
              </a:lnSpc>
              <a:buNone/>
            </a:pPr>
            <a:r>
              <a:rPr lang="en-US" sz="1400" dirty="0">
                <a:solidFill>
                  <a:srgbClr val="36454F"/>
                </a:solidFill>
                <a:latin typeface="Calibri" pitchFamily="34" charset="0"/>
                <a:ea typeface="Calibri" pitchFamily="34" charset="-122"/>
                <a:cs typeface="Calibri" pitchFamily="34" charset="-120"/>
              </a:rPr>
              <a:t>ROUTER.md is layer 0, under five kilobytes, always read first. themes/_INDEX.md is layer 1 and is regenerated from the theme files on every write, so it cannot drift. themes/THEME-nnnn.md is layer 2, opened only when layer 1 says it is relevant. sources/_INDEX.md carries the watermark in its frontmatter, which is why a nightly run never re-reads the corpus.</a:t>
            </a:r>
            <a:endParaRPr lang="en-US" sz="1400" dirty="0"/>
          </a:p>
        </p:txBody>
      </p:sp>
      <p:pic>
        <p:nvPicPr>
          <p:cNvPr id="5" name="Image 0" descr="/Users/jimabmatic.ai/momentive-bi-digest/bi-theme-digest-agent/deck/assets/06_theme_index.png">    </p:cNvPr>
          <p:cNvPicPr>
            <a:picLocks noChangeAspect="1"/>
          </p:cNvPicPr>
          <p:nvPr/>
        </p:nvPicPr>
        <p:blipFill>
          <a:blip r:embed="rId1"/>
          <a:stretch>
            <a:fillRect/>
          </a:stretch>
        </p:blipFill>
        <p:spPr>
          <a:xfrm>
            <a:off x="2651760" y="2468880"/>
            <a:ext cx="6858000" cy="3521583"/>
          </a:xfrm>
          <a:prstGeom prst="rect">
            <a:avLst/>
          </a:prstGeom>
        </p:spPr>
      </p:pic>
      <p:sp>
        <p:nvSpPr>
          <p:cNvPr id="6" name="Text 3"/>
          <p:cNvSpPr txBox="1"/>
          <p:nvPr/>
        </p:nvSpPr>
        <p:spPr>
          <a:xfrm>
            <a:off x="2651760" y="6080760"/>
            <a:ext cx="6858000" cy="365760"/>
          </a:xfrm>
          <a:prstGeom prst="rect">
            <a:avLst/>
          </a:prstGeom>
          <a:noFill/>
          <a:ln/>
        </p:spPr>
        <p:txBody>
          <a:bodyPr wrap="square" lIns="0" tIns="0" rIns="0" bIns="0" rtlCol="0" anchor="ctr"/>
          <a:lstStyle/>
          <a:p>
            <a:pPr algn="ctr" indent="0" marL="0">
              <a:buNone/>
            </a:pPr>
            <a:r>
              <a:rPr lang="en-US" sz="1100" i="1" dirty="0">
                <a:solidFill>
                  <a:srgbClr val="6E7B85"/>
                </a:solidFill>
                <a:latin typeface="Calibri" pitchFamily="34" charset="0"/>
                <a:ea typeface="Calibri" pitchFamily="34" charset="-122"/>
                <a:cs typeface="Calibri" pitchFamily="34" charset="-120"/>
              </a:rPr>
              <a:t>Eleven themes by week 39. Three quiet, none stale enough to drop, and the score column is computed in code.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THE STORE</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The git log is the audit trail, one commit per run</a:t>
            </a:r>
            <a:endParaRPr lang="en-US" sz="3200" dirty="0"/>
          </a:p>
        </p:txBody>
      </p:sp>
      <p:sp>
        <p:nvSpPr>
          <p:cNvPr id="4" name="Text 2"/>
          <p:cNvSpPr txBox="1"/>
          <p:nvPr/>
        </p:nvSpPr>
        <p:spPr>
          <a:xfrm>
            <a:off x="548640" y="1371600"/>
            <a:ext cx="5303520" cy="1828800"/>
          </a:xfrm>
          <a:prstGeom prst="rect">
            <a:avLst/>
          </a:prstGeom>
          <a:noFill/>
          <a:ln/>
        </p:spPr>
        <p:txBody>
          <a:bodyPr wrap="square" lIns="0" tIns="0" rIns="0" bIns="0" rtlCol="0" anchor="t"/>
          <a:lstStyle/>
          <a:p>
            <a:pPr indent="0" marL="0">
              <a:lnSpc>
                <a:spcPts val="2000"/>
              </a:lnSpc>
              <a:buNone/>
            </a:pPr>
            <a:r>
              <a:rPr lang="en-US" sz="1400" dirty="0">
                <a:solidFill>
                  <a:srgbClr val="36454F"/>
                </a:solidFill>
                <a:latin typeface="Calibri" pitchFamily="34" charset="0"/>
                <a:ea typeface="Calibri" pitchFamily="34" charset="-122"/>
                <a:cs typeface="Calibri" pitchFamily="34" charset="-120"/>
              </a:rPr>
              <a:t>The store is a separate repository with no code in it, so its history contains nothing but pipeline commits. Twenty six today: fifteen nightly ingests, three weekly builds, the scaffold, and the later ask and approve runs. Underneath that, runs/&lt;run_id&gt;/run.log.jsonl holds one validated event per action, reads included, and every scrub event carries counts and never values.</a:t>
            </a:r>
            <a:endParaRPr lang="en-US" sz="1400" dirty="0"/>
          </a:p>
        </p:txBody>
      </p:sp>
      <p:sp>
        <p:nvSpPr>
          <p:cNvPr id="5" name="Shape 3"/>
          <p:cNvSpPr/>
          <p:nvPr/>
        </p:nvSpPr>
        <p:spPr>
          <a:xfrm>
            <a:off x="548640" y="3383280"/>
            <a:ext cx="5303520" cy="2103120"/>
          </a:xfrm>
          <a:prstGeom prst="roundRect">
            <a:avLst>
              <a:gd name="adj" fmla="val 2609"/>
            </a:avLst>
          </a:prstGeom>
          <a:solidFill>
            <a:srgbClr val="F2F2F2"/>
          </a:solidFill>
          <a:ln w="12700">
            <a:solidFill>
              <a:srgbClr val="F2F2F2"/>
            </a:solidFill>
            <a:prstDash val="solid"/>
          </a:ln>
        </p:spPr>
      </p:sp>
      <p:sp>
        <p:nvSpPr>
          <p:cNvPr id="6" name="Text 4"/>
          <p:cNvSpPr txBox="1"/>
          <p:nvPr/>
        </p:nvSpPr>
        <p:spPr>
          <a:xfrm>
            <a:off x="777240" y="3566160"/>
            <a:ext cx="4846320" cy="1737360"/>
          </a:xfrm>
          <a:prstGeom prst="rect">
            <a:avLst/>
          </a:prstGeom>
          <a:noFill/>
          <a:ln/>
        </p:spPr>
        <p:txBody>
          <a:bodyPr wrap="square" lIns="0" tIns="0" rIns="0" bIns="0" rtlCol="0" anchor="ctr"/>
          <a:lstStyle/>
          <a:p>
            <a:pPr indent="0" marL="0">
              <a:lnSpc>
                <a:spcPts val="1800"/>
              </a:lnSpc>
              <a:buNone/>
            </a:pPr>
            <a:r>
              <a:rPr lang="en-US" sz="1100" dirty="0">
                <a:solidFill>
                  <a:srgbClr val="212121"/>
                </a:solidFill>
                <a:latin typeface="Courier New" pitchFamily="34" charset="0"/>
                <a:ea typeface="Courier New" pitchFamily="34" charset="-122"/>
                <a:cs typeface="Courier New" pitchFamily="34" charset="-120"/>
              </a:rPr>
              <a:t>{"agent": "scrubber", "action": "scrub",</a:t>
            </a:r>
            <a:endParaRPr lang="en-US" sz="1100" dirty="0"/>
          </a:p>
          <a:p>
            <a:pPr indent="0" marL="0">
              <a:lnSpc>
                <a:spcPts val="1800"/>
              </a:lnSpc>
              <a:buNone/>
            </a:pPr>
            <a:r>
              <a:rPr lang="en-US" sz="1100" dirty="0">
                <a:solidFill>
                  <a:srgbClr val="212121"/>
                </a:solidFill>
                <a:latin typeface="Courier New" pitchFamily="34" charset="0"/>
                <a:ea typeface="Courier New" pitchFamily="34" charset="-122"/>
                <a:cs typeface="Courier New" pitchFamily="34" charset="-120"/>
              </a:rPr>
              <a:t> "target": "5000000000000016",</a:t>
            </a:r>
            <a:endParaRPr lang="en-US" sz="1100" dirty="0"/>
          </a:p>
          <a:p>
            <a:pPr indent="0" marL="0">
              <a:lnSpc>
                <a:spcPts val="1800"/>
              </a:lnSpc>
              <a:buNone/>
            </a:pPr>
            <a:r>
              <a:rPr lang="en-US" sz="1100" dirty="0">
                <a:solidFill>
                  <a:srgbClr val="212121"/>
                </a:solidFill>
                <a:latin typeface="Courier New" pitchFamily="34" charset="0"/>
                <a:ea typeface="Courier New" pitchFamily="34" charset="-122"/>
                <a:cs typeface="Courier New" pitchFamily="34" charset="-120"/>
              </a:rPr>
              <a:t> "outcome": "ok",</a:t>
            </a:r>
            <a:endParaRPr lang="en-US" sz="1100" dirty="0"/>
          </a:p>
          <a:p>
            <a:pPr indent="0" marL="0">
              <a:lnSpc>
                <a:spcPts val="1800"/>
              </a:lnSpc>
              <a:buNone/>
            </a:pPr>
            <a:r>
              <a:rPr lang="en-US" sz="1100" dirty="0">
                <a:solidFill>
                  <a:srgbClr val="212121"/>
                </a:solidFill>
                <a:latin typeface="Courier New" pitchFamily="34" charset="0"/>
                <a:ea typeface="Courier New" pitchFamily="34" charset="-122"/>
                <a:cs typeface="Courier New" pitchFamily="34" charset="-120"/>
              </a:rPr>
              <a:t> "detail": {"EMAIL": 0, "PHONE": 0,</a:t>
            </a:r>
            <a:endParaRPr lang="en-US" sz="1100" dirty="0"/>
          </a:p>
          <a:p>
            <a:pPr indent="0" marL="0">
              <a:lnSpc>
                <a:spcPts val="1800"/>
              </a:lnSpc>
              <a:buNone/>
            </a:pPr>
            <a:r>
              <a:rPr lang="en-US" sz="1100" dirty="0">
                <a:solidFill>
                  <a:srgbClr val="212121"/>
                </a:solidFill>
                <a:latin typeface="Courier New" pitchFamily="34" charset="0"/>
                <a:ea typeface="Courier New" pitchFamily="34" charset="-122"/>
                <a:cs typeface="Courier New" pitchFamily="34" charset="-120"/>
              </a:rPr>
              <a:t>            "ADDRESS": 0, "NAME": 0}}</a:t>
            </a:r>
            <a:endParaRPr lang="en-US" sz="1100" dirty="0"/>
          </a:p>
        </p:txBody>
      </p:sp>
      <p:pic>
        <p:nvPicPr>
          <p:cNvPr id="7" name="Image 0" descr="/Users/jimabmatic.ai/momentive-bi-digest/bi-theme-digest-agent/deck/assets/05_store_git_log.png">    </p:cNvPr>
          <p:cNvPicPr>
            <a:picLocks noChangeAspect="1"/>
          </p:cNvPicPr>
          <p:nvPr/>
        </p:nvPicPr>
        <p:blipFill>
          <a:blip r:embed="rId1"/>
          <a:stretch>
            <a:fillRect/>
          </a:stretch>
        </p:blipFill>
        <p:spPr>
          <a:xfrm>
            <a:off x="6309360" y="1645920"/>
            <a:ext cx="5303520" cy="31211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HOW TO CHANGE SOMETHING</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What each edit invalidates</a:t>
            </a:r>
            <a:endParaRPr lang="en-US" sz="3200" dirty="0"/>
          </a:p>
        </p:txBody>
      </p:sp>
      <p:sp>
        <p:nvSpPr>
          <p:cNvPr id="4" name="Shape 2"/>
          <p:cNvSpPr/>
          <p:nvPr/>
        </p:nvSpPr>
        <p:spPr>
          <a:xfrm>
            <a:off x="548640" y="1371600"/>
            <a:ext cx="5577840" cy="1115568"/>
          </a:xfrm>
          <a:prstGeom prst="roundRect">
            <a:avLst>
              <a:gd name="adj" fmla="val 4918"/>
            </a:avLst>
          </a:prstGeom>
          <a:solidFill>
            <a:srgbClr val="F2F2F2"/>
          </a:solidFill>
          <a:ln w="12700">
            <a:solidFill>
              <a:srgbClr val="F2F2F2"/>
            </a:solidFill>
            <a:prstDash val="solid"/>
          </a:ln>
        </p:spPr>
      </p:sp>
      <p:sp>
        <p:nvSpPr>
          <p:cNvPr id="5" name="Text 3"/>
          <p:cNvSpPr txBox="1"/>
          <p:nvPr/>
        </p:nvSpPr>
        <p:spPr>
          <a:xfrm>
            <a:off x="777240" y="1481328"/>
            <a:ext cx="5120640" cy="2926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Change a prompt</a:t>
            </a:r>
            <a:endParaRPr lang="en-US" sz="1400" dirty="0"/>
          </a:p>
        </p:txBody>
      </p:sp>
      <p:sp>
        <p:nvSpPr>
          <p:cNvPr id="6" name="Text 4"/>
          <p:cNvSpPr txBox="1"/>
          <p:nvPr/>
        </p:nvSpPr>
        <p:spPr>
          <a:xfrm>
            <a:off x="777240" y="1783080"/>
            <a:ext cx="5120640" cy="64008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Bump prompt_version in the frontmatter. The replay key is a hash of tier, system, user and schema name, so editing a prompt invalidates every recording for that agent and make demo stops with exit 3, a replay miss. It never falls back to a live call. Regenerating means a record run, about 54 minutes and real money.</a:t>
            </a:r>
            <a:endParaRPr lang="en-US" sz="1050" dirty="0"/>
          </a:p>
        </p:txBody>
      </p:sp>
      <p:sp>
        <p:nvSpPr>
          <p:cNvPr id="7" name="Shape 5"/>
          <p:cNvSpPr/>
          <p:nvPr/>
        </p:nvSpPr>
        <p:spPr>
          <a:xfrm>
            <a:off x="548640" y="2578608"/>
            <a:ext cx="5577840" cy="1115568"/>
          </a:xfrm>
          <a:prstGeom prst="roundRect">
            <a:avLst>
              <a:gd name="adj" fmla="val 4918"/>
            </a:avLst>
          </a:prstGeom>
          <a:solidFill>
            <a:srgbClr val="F2F2F2"/>
          </a:solidFill>
          <a:ln w="12700">
            <a:solidFill>
              <a:srgbClr val="F2F2F2"/>
            </a:solidFill>
            <a:prstDash val="solid"/>
          </a:ln>
        </p:spPr>
      </p:sp>
      <p:sp>
        <p:nvSpPr>
          <p:cNvPr id="8" name="Text 6"/>
          <p:cNvSpPr txBox="1"/>
          <p:nvPr/>
        </p:nvSpPr>
        <p:spPr>
          <a:xfrm>
            <a:off x="777240" y="2688336"/>
            <a:ext cx="5120640" cy="2926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Change a tier</a:t>
            </a:r>
            <a:endParaRPr lang="en-US" sz="1400" dirty="0"/>
          </a:p>
        </p:txBody>
      </p:sp>
      <p:sp>
        <p:nvSpPr>
          <p:cNvPr id="9" name="Text 7"/>
          <p:cNvSpPr txBox="1"/>
          <p:nvPr/>
        </p:nvSpPr>
        <p:spPr>
          <a:xfrm>
            <a:off x="777240" y="2990088"/>
            <a:ext cx="5120640" cy="64008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Edit config/models.yaml. The replay key uses the tier name and not the model id, so replay will hand back the old model's answer. To compare models properly, run make swap-models, which records the alternate side into its own directory.</a:t>
            </a:r>
            <a:endParaRPr lang="en-US" sz="1050" dirty="0"/>
          </a:p>
        </p:txBody>
      </p:sp>
      <p:sp>
        <p:nvSpPr>
          <p:cNvPr id="10" name="Shape 8"/>
          <p:cNvSpPr/>
          <p:nvPr/>
        </p:nvSpPr>
        <p:spPr>
          <a:xfrm>
            <a:off x="548640" y="3785616"/>
            <a:ext cx="5577840" cy="1115568"/>
          </a:xfrm>
          <a:prstGeom prst="roundRect">
            <a:avLst>
              <a:gd name="adj" fmla="val 4918"/>
            </a:avLst>
          </a:prstGeom>
          <a:solidFill>
            <a:srgbClr val="F2F2F2"/>
          </a:solidFill>
          <a:ln w="12700">
            <a:solidFill>
              <a:srgbClr val="F2F2F2"/>
            </a:solidFill>
            <a:prstDash val="solid"/>
          </a:ln>
        </p:spPr>
      </p:sp>
      <p:sp>
        <p:nvSpPr>
          <p:cNvPr id="11" name="Text 9"/>
          <p:cNvSpPr txBox="1"/>
          <p:nvPr/>
        </p:nvSpPr>
        <p:spPr>
          <a:xfrm>
            <a:off x="777240" y="3895344"/>
            <a:ext cx="5120640" cy="2926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Add a source</a:t>
            </a:r>
            <a:endParaRPr lang="en-US" sz="1400" dirty="0"/>
          </a:p>
        </p:txBody>
      </p:sp>
      <p:sp>
        <p:nvSpPr>
          <p:cNvPr id="12" name="Text 10"/>
          <p:cNvSpPr txBox="1"/>
          <p:nvPr/>
        </p:nvSpPr>
        <p:spPr>
          <a:xfrm>
            <a:off x="777240" y="4197096"/>
            <a:ext cx="5120640" cy="64008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One file in src/digest/connectors implementing list_since and fetch, plus a config entry. The pipeline does not grow a branch.</a:t>
            </a:r>
            <a:endParaRPr lang="en-US" sz="1050" dirty="0"/>
          </a:p>
        </p:txBody>
      </p:sp>
      <p:sp>
        <p:nvSpPr>
          <p:cNvPr id="13" name="Shape 11"/>
          <p:cNvSpPr/>
          <p:nvPr/>
        </p:nvSpPr>
        <p:spPr>
          <a:xfrm>
            <a:off x="548640" y="4992624"/>
            <a:ext cx="5577840" cy="1115568"/>
          </a:xfrm>
          <a:prstGeom prst="roundRect">
            <a:avLst>
              <a:gd name="adj" fmla="val 4918"/>
            </a:avLst>
          </a:prstGeom>
          <a:solidFill>
            <a:srgbClr val="F2F2F2"/>
          </a:solidFill>
          <a:ln w="12700">
            <a:solidFill>
              <a:srgbClr val="F2F2F2"/>
            </a:solidFill>
            <a:prstDash val="solid"/>
          </a:ln>
        </p:spPr>
      </p:sp>
      <p:sp>
        <p:nvSpPr>
          <p:cNvPr id="14" name="Text 12"/>
          <p:cNvSpPr txBox="1"/>
          <p:nvPr/>
        </p:nvSpPr>
        <p:spPr>
          <a:xfrm>
            <a:off x="777240" y="5102352"/>
            <a:ext cx="5120640" cy="292608"/>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Run one test file</a:t>
            </a:r>
            <a:endParaRPr lang="en-US" sz="1400" dirty="0"/>
          </a:p>
        </p:txBody>
      </p:sp>
      <p:sp>
        <p:nvSpPr>
          <p:cNvPr id="15" name="Text 13"/>
          <p:cNvSpPr txBox="1"/>
          <p:nvPr/>
        </p:nvSpPr>
        <p:spPr>
          <a:xfrm>
            <a:off x="777240" y="5404104"/>
            <a:ext cx="5120640" cy="64008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The venv interpreter with pytest and the file name. tests/test_score.py passes eleven tests in 0.15 seconds. make test runs all 531.</a:t>
            </a:r>
            <a:endParaRPr lang="en-US" sz="1050" dirty="0"/>
          </a:p>
        </p:txBody>
      </p:sp>
      <p:sp>
        <p:nvSpPr>
          <p:cNvPr id="16" name="Text 14"/>
          <p:cNvSpPr txBox="1"/>
          <p:nvPr/>
        </p:nvSpPr>
        <p:spPr>
          <a:xfrm>
            <a:off x="6492240" y="1463040"/>
            <a:ext cx="5120640" cy="32004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make swap-models, on the cheap tier map</a:t>
            </a:r>
            <a:endParaRPr lang="en-US" sz="1300" dirty="0"/>
          </a:p>
        </p:txBody>
      </p:sp>
      <p:pic>
        <p:nvPicPr>
          <p:cNvPr id="17" name="Image 0" descr="/Users/jimabmatic.ai/momentive-bi-digest/bi-theme-digest-agent/deck/assets/15_swap_models_output.png">    </p:cNvPr>
          <p:cNvPicPr>
            <a:picLocks noChangeAspect="1"/>
          </p:cNvPicPr>
          <p:nvPr/>
        </p:nvPicPr>
        <p:blipFill>
          <a:blip r:embed="rId1"/>
          <a:stretch>
            <a:fillRect/>
          </a:stretch>
        </p:blipFill>
        <p:spPr>
          <a:xfrm>
            <a:off x="6492240" y="1920240"/>
            <a:ext cx="5120640" cy="901233"/>
          </a:xfrm>
          <a:prstGeom prst="rect">
            <a:avLst/>
          </a:prstGeom>
        </p:spPr>
      </p:pic>
      <p:sp>
        <p:nvSpPr>
          <p:cNvPr id="18" name="Text 15"/>
          <p:cNvSpPr txBox="1"/>
          <p:nvPr/>
        </p:nvSpPr>
        <p:spPr>
          <a:xfrm>
            <a:off x="6492240" y="3063240"/>
            <a:ext cx="5120640" cy="1280160"/>
          </a:xfrm>
          <a:prstGeom prst="rect">
            <a:avLst/>
          </a:prstGeom>
          <a:noFill/>
          <a:ln/>
        </p:spPr>
        <p:txBody>
          <a:bodyPr wrap="square" lIns="0" tIns="0" rIns="0" bIns="0" rtlCol="0" anchor="t"/>
          <a:lstStyle/>
          <a:p>
            <a:pPr indent="0" marL="0">
              <a:lnSpc>
                <a:spcPts val="1700"/>
              </a:lnSpc>
              <a:buNone/>
            </a:pPr>
            <a:r>
              <a:rPr lang="en-US" sz="1200" dirty="0">
                <a:solidFill>
                  <a:srgbClr val="36454F"/>
                </a:solidFill>
                <a:latin typeface="Calibri" pitchFamily="34" charset="0"/>
                <a:ea typeface="Calibri" pitchFamily="34" charset="-122"/>
                <a:cs typeface="Calibri" pitchFamily="34" charset="-120"/>
              </a:rPr>
              <a:t>Twenty three percent of the reference cost, and it grouped every claim the same way. The theme ids on the top three differ because ids are handed out in the editor's placeholder order, which on a cold start week measures the labelling and not the ranking.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HOW IT WAS BUILT</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Six waves, thirty briefs, one envelope each</a:t>
            </a:r>
            <a:endParaRPr lang="en-US" sz="3200" dirty="0"/>
          </a:p>
        </p:txBody>
      </p:sp>
      <p:sp>
        <p:nvSpPr>
          <p:cNvPr id="4" name="Shape 2"/>
          <p:cNvSpPr/>
          <p:nvPr/>
        </p:nvSpPr>
        <p:spPr>
          <a:xfrm>
            <a:off x="548640" y="1463040"/>
            <a:ext cx="2526030" cy="1417320"/>
          </a:xfrm>
          <a:prstGeom prst="roundRect">
            <a:avLst>
              <a:gd name="adj" fmla="val 3871"/>
            </a:avLst>
          </a:prstGeom>
          <a:solidFill>
            <a:srgbClr val="F2F2F2"/>
          </a:solidFill>
          <a:ln w="12700">
            <a:solidFill>
              <a:srgbClr val="F2F2F2"/>
            </a:solidFill>
            <a:prstDash val="solid"/>
          </a:ln>
        </p:spPr>
      </p:sp>
      <p:sp>
        <p:nvSpPr>
          <p:cNvPr id="5" name="Text 3"/>
          <p:cNvSpPr txBox="1"/>
          <p:nvPr/>
        </p:nvSpPr>
        <p:spPr>
          <a:xfrm>
            <a:off x="749808" y="1600200"/>
            <a:ext cx="2123694" cy="566928"/>
          </a:xfrm>
          <a:prstGeom prst="rect">
            <a:avLst/>
          </a:prstGeom>
          <a:noFill/>
          <a:ln/>
        </p:spPr>
        <p:txBody>
          <a:bodyPr wrap="square" lIns="0" tIns="0" rIns="0" bIns="0" rtlCol="0" anchor="ctr"/>
          <a:lstStyle/>
          <a:p>
            <a:pPr indent="0" marL="0">
              <a:buNone/>
            </a:pPr>
            <a:r>
              <a:rPr lang="en-US" sz="3000" b="1" dirty="0">
                <a:solidFill>
                  <a:srgbClr val="50808E"/>
                </a:solidFill>
                <a:latin typeface="Cambria" pitchFamily="34" charset="0"/>
                <a:ea typeface="Cambria" pitchFamily="34" charset="-122"/>
                <a:cs typeface="Cambria" pitchFamily="34" charset="-120"/>
              </a:rPr>
              <a:t>6</a:t>
            </a:r>
            <a:endParaRPr lang="en-US" sz="3000" dirty="0"/>
          </a:p>
        </p:txBody>
      </p:sp>
      <p:sp>
        <p:nvSpPr>
          <p:cNvPr id="6" name="Text 4"/>
          <p:cNvSpPr txBox="1"/>
          <p:nvPr/>
        </p:nvSpPr>
        <p:spPr>
          <a:xfrm>
            <a:off x="749808" y="2176272"/>
            <a:ext cx="2123694" cy="621792"/>
          </a:xfrm>
          <a:prstGeom prst="rect">
            <a:avLst/>
          </a:prstGeom>
          <a:noFill/>
          <a:ln/>
        </p:spPr>
        <p:txBody>
          <a:bodyPr wrap="square" lIns="0" tIns="0" rIns="0" bIns="0" rtlCol="0" anchor="ctr"/>
          <a:lstStyle/>
          <a:p>
            <a:pPr indent="0" marL="0">
              <a:lnSpc>
                <a:spcPts val="1500"/>
              </a:lnSpc>
              <a:buNone/>
            </a:pPr>
            <a:r>
              <a:rPr lang="en-US" sz="1200" dirty="0">
                <a:solidFill>
                  <a:srgbClr val="6E7B85"/>
                </a:solidFill>
                <a:latin typeface="Calibri" pitchFamily="34" charset="0"/>
                <a:ea typeface="Calibri" pitchFamily="34" charset="-122"/>
                <a:cs typeface="Calibri" pitchFamily="34" charset="-120"/>
              </a:rPr>
              <a:t>waves under one orchestrator, from the contract pack to the deck</a:t>
            </a:r>
            <a:endParaRPr lang="en-US" sz="1200" dirty="0"/>
          </a:p>
        </p:txBody>
      </p:sp>
      <p:sp>
        <p:nvSpPr>
          <p:cNvPr id="7" name="Shape 5"/>
          <p:cNvSpPr/>
          <p:nvPr/>
        </p:nvSpPr>
        <p:spPr>
          <a:xfrm>
            <a:off x="3394710" y="1463040"/>
            <a:ext cx="2526030" cy="1417320"/>
          </a:xfrm>
          <a:prstGeom prst="roundRect">
            <a:avLst>
              <a:gd name="adj" fmla="val 3871"/>
            </a:avLst>
          </a:prstGeom>
          <a:solidFill>
            <a:srgbClr val="F2F2F2"/>
          </a:solidFill>
          <a:ln w="12700">
            <a:solidFill>
              <a:srgbClr val="F2F2F2"/>
            </a:solidFill>
            <a:prstDash val="solid"/>
          </a:ln>
        </p:spPr>
      </p:sp>
      <p:sp>
        <p:nvSpPr>
          <p:cNvPr id="8" name="Text 6"/>
          <p:cNvSpPr txBox="1"/>
          <p:nvPr/>
        </p:nvSpPr>
        <p:spPr>
          <a:xfrm>
            <a:off x="3595878" y="1600200"/>
            <a:ext cx="2123694" cy="566928"/>
          </a:xfrm>
          <a:prstGeom prst="rect">
            <a:avLst/>
          </a:prstGeom>
          <a:noFill/>
          <a:ln/>
        </p:spPr>
        <p:txBody>
          <a:bodyPr wrap="square" lIns="0" tIns="0" rIns="0" bIns="0" rtlCol="0" anchor="ctr"/>
          <a:lstStyle/>
          <a:p>
            <a:pPr indent="0" marL="0">
              <a:buNone/>
            </a:pPr>
            <a:r>
              <a:rPr lang="en-US" sz="3000" b="1" dirty="0">
                <a:solidFill>
                  <a:srgbClr val="50808E"/>
                </a:solidFill>
                <a:latin typeface="Cambria" pitchFamily="34" charset="0"/>
                <a:ea typeface="Cambria" pitchFamily="34" charset="-122"/>
                <a:cs typeface="Cambria" pitchFamily="34" charset="-120"/>
              </a:rPr>
              <a:t>30</a:t>
            </a:r>
            <a:endParaRPr lang="en-US" sz="3000" dirty="0"/>
          </a:p>
        </p:txBody>
      </p:sp>
      <p:sp>
        <p:nvSpPr>
          <p:cNvPr id="9" name="Text 7"/>
          <p:cNvSpPr txBox="1"/>
          <p:nvPr/>
        </p:nvSpPr>
        <p:spPr>
          <a:xfrm>
            <a:off x="3595878" y="2176272"/>
            <a:ext cx="2123694" cy="621792"/>
          </a:xfrm>
          <a:prstGeom prst="rect">
            <a:avLst/>
          </a:prstGeom>
          <a:noFill/>
          <a:ln/>
        </p:spPr>
        <p:txBody>
          <a:bodyPr wrap="square" lIns="0" tIns="0" rIns="0" bIns="0" rtlCol="0" anchor="ctr"/>
          <a:lstStyle/>
          <a:p>
            <a:pPr indent="0" marL="0">
              <a:lnSpc>
                <a:spcPts val="1500"/>
              </a:lnSpc>
              <a:buNone/>
            </a:pPr>
            <a:r>
              <a:rPr lang="en-US" sz="1200" dirty="0">
                <a:solidFill>
                  <a:srgbClr val="6E7B85"/>
                </a:solidFill>
                <a:latin typeface="Calibri" pitchFamily="34" charset="0"/>
                <a:ea typeface="Calibri" pitchFamily="34" charset="-122"/>
                <a:cs typeface="Calibri" pitchFamily="34" charset="-120"/>
              </a:rPr>
              <a:t>briefs, each owning an exclusive set of file paths</a:t>
            </a:r>
            <a:endParaRPr lang="en-US" sz="1200" dirty="0"/>
          </a:p>
        </p:txBody>
      </p:sp>
      <p:sp>
        <p:nvSpPr>
          <p:cNvPr id="10" name="Shape 8"/>
          <p:cNvSpPr/>
          <p:nvPr/>
        </p:nvSpPr>
        <p:spPr>
          <a:xfrm>
            <a:off x="6240780" y="1463040"/>
            <a:ext cx="2526030" cy="1417320"/>
          </a:xfrm>
          <a:prstGeom prst="roundRect">
            <a:avLst>
              <a:gd name="adj" fmla="val 3871"/>
            </a:avLst>
          </a:prstGeom>
          <a:solidFill>
            <a:srgbClr val="F2F2F2"/>
          </a:solidFill>
          <a:ln w="12700">
            <a:solidFill>
              <a:srgbClr val="F2F2F2"/>
            </a:solidFill>
            <a:prstDash val="solid"/>
          </a:ln>
        </p:spPr>
      </p:sp>
      <p:sp>
        <p:nvSpPr>
          <p:cNvPr id="11" name="Text 9"/>
          <p:cNvSpPr txBox="1"/>
          <p:nvPr/>
        </p:nvSpPr>
        <p:spPr>
          <a:xfrm>
            <a:off x="6441948" y="1600200"/>
            <a:ext cx="2123694" cy="566928"/>
          </a:xfrm>
          <a:prstGeom prst="rect">
            <a:avLst/>
          </a:prstGeom>
          <a:noFill/>
          <a:ln/>
        </p:spPr>
        <p:txBody>
          <a:bodyPr wrap="square" lIns="0" tIns="0" rIns="0" bIns="0" rtlCol="0" anchor="ctr"/>
          <a:lstStyle/>
          <a:p>
            <a:pPr indent="0" marL="0">
              <a:buNone/>
            </a:pPr>
            <a:r>
              <a:rPr lang="en-US" sz="3000" b="1" dirty="0">
                <a:solidFill>
                  <a:srgbClr val="50808E"/>
                </a:solidFill>
                <a:latin typeface="Cambria" pitchFamily="34" charset="0"/>
                <a:ea typeface="Cambria" pitchFamily="34" charset="-122"/>
                <a:cs typeface="Cambria" pitchFamily="34" charset="-120"/>
              </a:rPr>
              <a:t>30</a:t>
            </a:r>
            <a:endParaRPr lang="en-US" sz="3000" dirty="0"/>
          </a:p>
        </p:txBody>
      </p:sp>
      <p:sp>
        <p:nvSpPr>
          <p:cNvPr id="12" name="Text 10"/>
          <p:cNvSpPr txBox="1"/>
          <p:nvPr/>
        </p:nvSpPr>
        <p:spPr>
          <a:xfrm>
            <a:off x="6441948" y="2176272"/>
            <a:ext cx="2123694" cy="621792"/>
          </a:xfrm>
          <a:prstGeom prst="rect">
            <a:avLst/>
          </a:prstGeom>
          <a:noFill/>
          <a:ln/>
        </p:spPr>
        <p:txBody>
          <a:bodyPr wrap="square" lIns="0" tIns="0" rIns="0" bIns="0" rtlCol="0" anchor="ctr"/>
          <a:lstStyle/>
          <a:p>
            <a:pPr indent="0" marL="0">
              <a:lnSpc>
                <a:spcPts val="1500"/>
              </a:lnSpc>
              <a:buNone/>
            </a:pPr>
            <a:r>
              <a:rPr lang="en-US" sz="1200" dirty="0">
                <a:solidFill>
                  <a:srgbClr val="6E7B85"/>
                </a:solidFill>
                <a:latin typeface="Calibri" pitchFamily="34" charset="0"/>
                <a:ea typeface="Calibri" pitchFamily="34" charset="-122"/>
                <a:cs typeface="Calibri" pitchFamily="34" charset="-120"/>
              </a:rPr>
              <a:t>JSON envelopes returned, every one with an assumptions array</a:t>
            </a:r>
            <a:endParaRPr lang="en-US" sz="1200" dirty="0"/>
          </a:p>
        </p:txBody>
      </p:sp>
      <p:sp>
        <p:nvSpPr>
          <p:cNvPr id="13" name="Shape 11"/>
          <p:cNvSpPr/>
          <p:nvPr/>
        </p:nvSpPr>
        <p:spPr>
          <a:xfrm>
            <a:off x="9086850" y="1463040"/>
            <a:ext cx="2526030" cy="1417320"/>
          </a:xfrm>
          <a:prstGeom prst="roundRect">
            <a:avLst>
              <a:gd name="adj" fmla="val 3871"/>
            </a:avLst>
          </a:prstGeom>
          <a:solidFill>
            <a:srgbClr val="F2F2F2"/>
          </a:solidFill>
          <a:ln w="12700">
            <a:solidFill>
              <a:srgbClr val="F2F2F2"/>
            </a:solidFill>
            <a:prstDash val="solid"/>
          </a:ln>
        </p:spPr>
      </p:sp>
      <p:sp>
        <p:nvSpPr>
          <p:cNvPr id="14" name="Text 12"/>
          <p:cNvSpPr txBox="1"/>
          <p:nvPr/>
        </p:nvSpPr>
        <p:spPr>
          <a:xfrm>
            <a:off x="9288018" y="1600200"/>
            <a:ext cx="2123694" cy="566928"/>
          </a:xfrm>
          <a:prstGeom prst="rect">
            <a:avLst/>
          </a:prstGeom>
          <a:noFill/>
          <a:ln/>
        </p:spPr>
        <p:txBody>
          <a:bodyPr wrap="square" lIns="0" tIns="0" rIns="0" bIns="0" rtlCol="0" anchor="ctr"/>
          <a:lstStyle/>
          <a:p>
            <a:pPr indent="0" marL="0">
              <a:buNone/>
            </a:pPr>
            <a:r>
              <a:rPr lang="en-US" sz="3000" b="1" dirty="0">
                <a:solidFill>
                  <a:srgbClr val="50808E"/>
                </a:solidFill>
                <a:latin typeface="Cambria" pitchFamily="34" charset="0"/>
                <a:ea typeface="Cambria" pitchFamily="34" charset="-122"/>
                <a:cs typeface="Cambria" pitchFamily="34" charset="-120"/>
              </a:rPr>
              <a:t>531</a:t>
            </a:r>
            <a:endParaRPr lang="en-US" sz="3000" dirty="0"/>
          </a:p>
        </p:txBody>
      </p:sp>
      <p:sp>
        <p:nvSpPr>
          <p:cNvPr id="15" name="Text 13"/>
          <p:cNvSpPr txBox="1"/>
          <p:nvPr/>
        </p:nvSpPr>
        <p:spPr>
          <a:xfrm>
            <a:off x="9288018" y="2176272"/>
            <a:ext cx="2123694" cy="621792"/>
          </a:xfrm>
          <a:prstGeom prst="rect">
            <a:avLst/>
          </a:prstGeom>
          <a:noFill/>
          <a:ln/>
        </p:spPr>
        <p:txBody>
          <a:bodyPr wrap="square" lIns="0" tIns="0" rIns="0" bIns="0" rtlCol="0" anchor="ctr"/>
          <a:lstStyle/>
          <a:p>
            <a:pPr indent="0" marL="0">
              <a:lnSpc>
                <a:spcPts val="1500"/>
              </a:lnSpc>
              <a:buNone/>
            </a:pPr>
            <a:r>
              <a:rPr lang="en-US" sz="1200" dirty="0">
                <a:solidFill>
                  <a:srgbClr val="6E7B85"/>
                </a:solidFill>
                <a:latin typeface="Calibri" pitchFamily="34" charset="0"/>
                <a:ea typeface="Calibri" pitchFamily="34" charset="-122"/>
                <a:cs typeface="Calibri" pitchFamily="34" charset="-120"/>
              </a:rPr>
              <a:t>tests, written by the worker that owned the area</a:t>
            </a:r>
            <a:endParaRPr lang="en-US" sz="1200" dirty="0"/>
          </a:p>
        </p:txBody>
      </p:sp>
      <p:sp>
        <p:nvSpPr>
          <p:cNvPr id="16" name="Text 14"/>
          <p:cNvSpPr txBox="1"/>
          <p:nvPr/>
        </p:nvSpPr>
        <p:spPr>
          <a:xfrm>
            <a:off x="548640" y="3200400"/>
            <a:ext cx="10881360" cy="2377440"/>
          </a:xfrm>
          <a:prstGeom prst="rect">
            <a:avLst/>
          </a:prstGeom>
          <a:noFill/>
          <a:ln/>
        </p:spPr>
        <p:txBody>
          <a:bodyPr wrap="square" lIns="0" tIns="0" rIns="0" bIns="0" rtlCol="0" anchor="ctr"/>
          <a:lstStyle/>
          <a:p>
            <a:pPr indent="0" marL="0">
              <a:lnSpc>
                <a:spcPts val="2100"/>
              </a:lnSpc>
              <a:buNone/>
            </a:pPr>
            <a:r>
              <a:rPr lang="en-US" sz="1400" dirty="0">
                <a:solidFill>
                  <a:srgbClr val="36454F"/>
                </a:solidFill>
                <a:latin typeface="Calibri" pitchFamily="34" charset="0"/>
                <a:ea typeface="Calibri" pitchFamily="34" charset="-122"/>
                <a:cs typeface="Calibri" pitchFamily="34" charset="-120"/>
              </a:rPr>
              <a:t>Wave 0 was the contract pack on its own, because fourteen later workers had to build in parallel without talking to each other. Waves 1 and 2 were seven workers each, wave 3 was the pipeline and the first live run, wave 4 the documents, wave 5 the QA auditors, wave 6 the deck.</a:t>
            </a:r>
            <a:endParaRPr lang="en-US" sz="1400" dirty="0"/>
          </a:p>
          <a:p>
            <a:pPr indent="0" marL="0">
              <a:lnSpc>
                <a:spcPts val="2100"/>
              </a:lnSpc>
              <a:buNone/>
            </a:pPr>
            <a:endParaRPr lang="en-US" sz="1400" dirty="0"/>
          </a:p>
          <a:p>
            <a:pPr indent="0" marL="0">
              <a:lnSpc>
                <a:spcPts val="2100"/>
              </a:lnSpc>
              <a:buNone/>
            </a:pPr>
            <a:r>
              <a:rPr lang="en-US" sz="1400" dirty="0">
                <a:solidFill>
                  <a:srgbClr val="36454F"/>
                </a:solidFill>
                <a:latin typeface="Calibri" pitchFamily="34" charset="0"/>
                <a:ea typeface="Calibri" pitchFamily="34" charset="-122"/>
                <a:cs typeface="Calibri" pitchFamily="34" charset="-120"/>
              </a:rPr>
              <a:t>Every worker read only the contract slices its brief named, wrote only inside its own paths, and returned a structured envelope rather than prose. Anything it had to infer went into a named assumptions array instead of being buried in code. Context rot is the failure mode of a large agent build, and the fix is narrow briefs and exclusive ownership rather than a bigger context window.</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HOW IT WAS BUILT</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Run one to run three, and what the eval caught</a:t>
            </a:r>
            <a:endParaRPr lang="en-US" sz="3200" dirty="0"/>
          </a:p>
        </p:txBody>
      </p:sp>
      <p:sp>
        <p:nvSpPr>
          <p:cNvPr id="4" name="Shape 2"/>
          <p:cNvSpPr/>
          <p:nvPr/>
        </p:nvSpPr>
        <p:spPr>
          <a:xfrm>
            <a:off x="548640" y="1417320"/>
            <a:ext cx="5760720" cy="1371600"/>
          </a:xfrm>
          <a:prstGeom prst="roundRect">
            <a:avLst>
              <a:gd name="adj" fmla="val 4000"/>
            </a:avLst>
          </a:prstGeom>
          <a:solidFill>
            <a:srgbClr val="F2F2F2"/>
          </a:solidFill>
          <a:ln w="12700">
            <a:solidFill>
              <a:srgbClr val="F2F2F2"/>
            </a:solidFill>
            <a:prstDash val="solid"/>
          </a:ln>
        </p:spPr>
      </p:sp>
      <p:sp>
        <p:nvSpPr>
          <p:cNvPr id="5" name="Text 3"/>
          <p:cNvSpPr txBox="1"/>
          <p:nvPr/>
        </p:nvSpPr>
        <p:spPr>
          <a:xfrm>
            <a:off x="777240" y="1545336"/>
            <a:ext cx="1188720" cy="320040"/>
          </a:xfrm>
          <a:prstGeom prst="rect">
            <a:avLst/>
          </a:prstGeom>
          <a:noFill/>
          <a:ln/>
        </p:spPr>
        <p:txBody>
          <a:bodyPr wrap="square" lIns="0" tIns="0" rIns="0" bIns="0" rtlCol="0" anchor="ctr"/>
          <a:lstStyle/>
          <a:p>
            <a:pPr indent="0" marL="0">
              <a:buNone/>
            </a:pPr>
            <a:r>
              <a:rPr lang="en-US" sz="1800" b="1" dirty="0">
                <a:solidFill>
                  <a:srgbClr val="50808E"/>
                </a:solidFill>
                <a:latin typeface="Cambria" pitchFamily="34" charset="0"/>
                <a:ea typeface="Cambria" pitchFamily="34" charset="-122"/>
                <a:cs typeface="Cambria" pitchFamily="34" charset="-120"/>
              </a:rPr>
              <a:t>Run 1</a:t>
            </a:r>
            <a:endParaRPr lang="en-US" sz="1800" dirty="0"/>
          </a:p>
        </p:txBody>
      </p:sp>
      <p:sp>
        <p:nvSpPr>
          <p:cNvPr id="6" name="Text 4"/>
          <p:cNvSpPr txBox="1"/>
          <p:nvPr/>
        </p:nvSpPr>
        <p:spPr>
          <a:xfrm>
            <a:off x="777240" y="1920240"/>
            <a:ext cx="5303520" cy="77724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83 claims, 20 themes against a plan of nine, eval 17 of 18, a week 37 rerun agreeing with itself at 0.79. Measured and not shipped. Three causes, each fixed at its owner: filler in the corpus carried extractable asks, the readers split one point into two claims, the editor split facets of one problem into themes.</a:t>
            </a:r>
            <a:endParaRPr lang="en-US" sz="1050" dirty="0"/>
          </a:p>
        </p:txBody>
      </p:sp>
      <p:sp>
        <p:nvSpPr>
          <p:cNvPr id="7" name="Shape 5"/>
          <p:cNvSpPr/>
          <p:nvPr/>
        </p:nvSpPr>
        <p:spPr>
          <a:xfrm>
            <a:off x="548640" y="2898648"/>
            <a:ext cx="5760720" cy="1371600"/>
          </a:xfrm>
          <a:prstGeom prst="roundRect">
            <a:avLst>
              <a:gd name="adj" fmla="val 4000"/>
            </a:avLst>
          </a:prstGeom>
          <a:solidFill>
            <a:srgbClr val="F2F2F2"/>
          </a:solidFill>
          <a:ln w="12700">
            <a:solidFill>
              <a:srgbClr val="F2F2F2"/>
            </a:solidFill>
            <a:prstDash val="solid"/>
          </a:ln>
        </p:spPr>
      </p:sp>
      <p:sp>
        <p:nvSpPr>
          <p:cNvPr id="8" name="Text 6"/>
          <p:cNvSpPr txBox="1"/>
          <p:nvPr/>
        </p:nvSpPr>
        <p:spPr>
          <a:xfrm>
            <a:off x="777240" y="3026664"/>
            <a:ext cx="1188720" cy="320040"/>
          </a:xfrm>
          <a:prstGeom prst="rect">
            <a:avLst/>
          </a:prstGeom>
          <a:noFill/>
          <a:ln/>
        </p:spPr>
        <p:txBody>
          <a:bodyPr wrap="square" lIns="0" tIns="0" rIns="0" bIns="0" rtlCol="0" anchor="ctr"/>
          <a:lstStyle/>
          <a:p>
            <a:pPr indent="0" marL="0">
              <a:buNone/>
            </a:pPr>
            <a:r>
              <a:rPr lang="en-US" sz="1800" b="1" dirty="0">
                <a:solidFill>
                  <a:srgbClr val="50808E"/>
                </a:solidFill>
                <a:latin typeface="Cambria" pitchFamily="34" charset="0"/>
                <a:ea typeface="Cambria" pitchFamily="34" charset="-122"/>
                <a:cs typeface="Cambria" pitchFamily="34" charset="-120"/>
              </a:rPr>
              <a:t>Run 2</a:t>
            </a:r>
            <a:endParaRPr lang="en-US" sz="1800" dirty="0"/>
          </a:p>
        </p:txBody>
      </p:sp>
      <p:sp>
        <p:nvSpPr>
          <p:cNvPr id="9" name="Text 7"/>
          <p:cNvSpPr txBox="1"/>
          <p:nvPr/>
        </p:nvSpPr>
        <p:spPr>
          <a:xfrm>
            <a:off x="777240" y="3401568"/>
            <a:ext cx="5303520" cy="77724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55 claims, 12 themes, rerun agreement 1.000. The golden set still caught one reader recall miss, so the reader prompts went to 1.2.0 with a recall first rule and a stricter praise test.</a:t>
            </a:r>
            <a:endParaRPr lang="en-US" sz="1050" dirty="0"/>
          </a:p>
        </p:txBody>
      </p:sp>
      <p:sp>
        <p:nvSpPr>
          <p:cNvPr id="10" name="Shape 8"/>
          <p:cNvSpPr/>
          <p:nvPr/>
        </p:nvSpPr>
        <p:spPr>
          <a:xfrm>
            <a:off x="548640" y="4379976"/>
            <a:ext cx="5760720" cy="1371600"/>
          </a:xfrm>
          <a:prstGeom prst="roundRect">
            <a:avLst>
              <a:gd name="adj" fmla="val 4000"/>
            </a:avLst>
          </a:prstGeom>
          <a:solidFill>
            <a:srgbClr val="F2F2F2"/>
          </a:solidFill>
          <a:ln w="12700">
            <a:solidFill>
              <a:srgbClr val="F2F2F2"/>
            </a:solidFill>
            <a:prstDash val="solid"/>
          </a:ln>
        </p:spPr>
      </p:sp>
      <p:sp>
        <p:nvSpPr>
          <p:cNvPr id="11" name="Text 9"/>
          <p:cNvSpPr txBox="1"/>
          <p:nvPr/>
        </p:nvSpPr>
        <p:spPr>
          <a:xfrm>
            <a:off x="777240" y="4507992"/>
            <a:ext cx="1188720" cy="320040"/>
          </a:xfrm>
          <a:prstGeom prst="rect">
            <a:avLst/>
          </a:prstGeom>
          <a:noFill/>
          <a:ln/>
        </p:spPr>
        <p:txBody>
          <a:bodyPr wrap="square" lIns="0" tIns="0" rIns="0" bIns="0" rtlCol="0" anchor="ctr"/>
          <a:lstStyle/>
          <a:p>
            <a:pPr indent="0" marL="0">
              <a:buNone/>
            </a:pPr>
            <a:r>
              <a:rPr lang="en-US" sz="1800" b="1" dirty="0">
                <a:solidFill>
                  <a:srgbClr val="50808E"/>
                </a:solidFill>
                <a:latin typeface="Cambria" pitchFamily="34" charset="0"/>
                <a:ea typeface="Cambria" pitchFamily="34" charset="-122"/>
                <a:cs typeface="Cambria" pitchFamily="34" charset="-120"/>
              </a:rPr>
              <a:t>Run 3</a:t>
            </a:r>
            <a:endParaRPr lang="en-US" sz="1800" dirty="0"/>
          </a:p>
        </p:txBody>
      </p:sp>
      <p:sp>
        <p:nvSpPr>
          <p:cNvPr id="12" name="Text 10"/>
          <p:cNvSpPr txBox="1"/>
          <p:nvPr/>
        </p:nvSpPr>
        <p:spPr>
          <a:xfrm>
            <a:off x="777240" y="4882896"/>
            <a:ext cx="5303520" cy="777240"/>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55 claims from 53 sources, 11 themes, 18 of 18, zero rejected, 5.47 dollars by the rate table. This is the run that is committed and the one the replay reproduces byte for byte.</a:t>
            </a:r>
            <a:endParaRPr lang="en-US" sz="1050" dirty="0"/>
          </a:p>
        </p:txBody>
      </p:sp>
      <p:pic>
        <p:nvPicPr>
          <p:cNvPr id="13" name="Image 0" descr="/Users/jimabmatic.ai/momentive-bi-digest/bi-theme-digest-agent/deck/assets/13_eval_results_table.png">    </p:cNvPr>
          <p:cNvPicPr>
            <a:picLocks noChangeAspect="1"/>
          </p:cNvPicPr>
          <p:nvPr/>
        </p:nvPicPr>
        <p:blipFill>
          <a:blip r:embed="rId1"/>
          <a:stretch>
            <a:fillRect/>
          </a:stretch>
        </p:blipFill>
        <p:spPr>
          <a:xfrm>
            <a:off x="6675120" y="1645920"/>
            <a:ext cx="4937760" cy="2628370"/>
          </a:xfrm>
          <a:prstGeom prst="rect">
            <a:avLst/>
          </a:prstGeom>
        </p:spPr>
      </p:pic>
      <p:sp>
        <p:nvSpPr>
          <p:cNvPr id="14" name="Text 11"/>
          <p:cNvSpPr txBox="1"/>
          <p:nvPr/>
        </p:nvSpPr>
        <p:spPr>
          <a:xfrm>
            <a:off x="6675120" y="4480560"/>
            <a:ext cx="4937760" cy="731520"/>
          </a:xfrm>
          <a:prstGeom prst="rect">
            <a:avLst/>
          </a:prstGeom>
          <a:noFill/>
          <a:ln/>
        </p:spPr>
        <p:txBody>
          <a:bodyPr wrap="square" lIns="0" tIns="0" rIns="0" bIns="0" rtlCol="0" anchor="ctr"/>
          <a:lstStyle/>
          <a:p>
            <a:pPr indent="0" marL="0">
              <a:lnSpc>
                <a:spcPts val="1700"/>
              </a:lnSpc>
              <a:buNone/>
            </a:pPr>
            <a:r>
              <a:rPr lang="en-US" sz="1200" i="1" dirty="0">
                <a:solidFill>
                  <a:srgbClr val="6E7B85"/>
                </a:solidFill>
                <a:latin typeface="Calibri" pitchFamily="34" charset="0"/>
                <a:ea typeface="Calibri" pitchFamily="34" charset="-122"/>
                <a:cs typeface="Calibri" pitchFamily="34" charset="-120"/>
              </a:rPr>
              <a:t>The golden set is the thing that caught the reader miss twice. It is mechanical: joins, substring tests and comparisons, and it asks no model anything.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HOW IT WAS BUILT</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2900" b="1" dirty="0">
                <a:solidFill>
                  <a:srgbClr val="36454F"/>
                </a:solidFill>
                <a:latin typeface="Cambria" pitchFamily="34" charset="0"/>
                <a:ea typeface="Cambria" pitchFamily="34" charset="-122"/>
                <a:cs typeface="Cambria" pitchFamily="34" charset="-120"/>
              </a:rPr>
              <a:t>The QA wave built nothing, and each caught something</a:t>
            </a:r>
            <a:endParaRPr lang="en-US" sz="2900" dirty="0"/>
          </a:p>
        </p:txBody>
      </p:sp>
      <p:sp>
        <p:nvSpPr>
          <p:cNvPr id="4" name="Shape 2"/>
          <p:cNvSpPr/>
          <p:nvPr/>
        </p:nvSpPr>
        <p:spPr>
          <a:xfrm>
            <a:off x="548640" y="1417320"/>
            <a:ext cx="11064240" cy="1097280"/>
          </a:xfrm>
          <a:prstGeom prst="roundRect">
            <a:avLst>
              <a:gd name="adj" fmla="val 5000"/>
            </a:avLst>
          </a:prstGeom>
          <a:solidFill>
            <a:srgbClr val="F2F2F2"/>
          </a:solidFill>
          <a:ln w="12700">
            <a:solidFill>
              <a:srgbClr val="F2F2F2"/>
            </a:solidFill>
            <a:prstDash val="solid"/>
          </a:ln>
        </p:spPr>
      </p:sp>
      <p:sp>
        <p:nvSpPr>
          <p:cNvPr id="5" name="Text 3"/>
          <p:cNvSpPr txBox="1"/>
          <p:nvPr/>
        </p:nvSpPr>
        <p:spPr>
          <a:xfrm>
            <a:off x="777240" y="1527048"/>
            <a:ext cx="1828800" cy="877824"/>
          </a:xfrm>
          <a:prstGeom prst="rect">
            <a:avLst/>
          </a:prstGeom>
          <a:noFill/>
          <a:ln/>
        </p:spPr>
        <p:txBody>
          <a:bodyPr wrap="square" lIns="0" tIns="0" rIns="0" bIns="0" rtlCol="0" anchor="ctr"/>
          <a:lstStyle/>
          <a:p>
            <a:pPr indent="0" marL="0">
              <a:buNone/>
            </a:pPr>
            <a:r>
              <a:rPr lang="en-US" sz="1700" b="1" dirty="0">
                <a:solidFill>
                  <a:srgbClr val="50808E"/>
                </a:solidFill>
                <a:latin typeface="Cambria" pitchFamily="34" charset="0"/>
                <a:ea typeface="Cambria" pitchFamily="34" charset="-122"/>
                <a:cs typeface="Cambria" pitchFamily="34" charset="-120"/>
              </a:rPr>
              <a:t>Acceptance</a:t>
            </a:r>
            <a:endParaRPr lang="en-US" sz="1700" dirty="0"/>
          </a:p>
        </p:txBody>
      </p:sp>
      <p:sp>
        <p:nvSpPr>
          <p:cNvPr id="6" name="Text 4"/>
          <p:cNvSpPr txBox="1"/>
          <p:nvPr/>
        </p:nvSpPr>
        <p:spPr>
          <a:xfrm>
            <a:off x="2743200" y="1527048"/>
            <a:ext cx="8823960" cy="877824"/>
          </a:xfrm>
          <a:prstGeom prst="rect">
            <a:avLst/>
          </a:prstGeom>
          <a:noFill/>
          <a:ln/>
        </p:spPr>
        <p:txBody>
          <a:bodyPr wrap="square" lIns="0" tIns="0" rIns="0" bIns="0" rtlCol="0" anchor="ctr"/>
          <a:lstStyle/>
          <a:p>
            <a:pPr indent="0" marL="0">
              <a:lnSpc>
                <a:spcPts val="1600"/>
              </a:lnSpc>
              <a:buNone/>
            </a:pPr>
            <a:r>
              <a:rPr lang="en-US" sz="1200" dirty="0">
                <a:solidFill>
                  <a:srgbClr val="36454F"/>
                </a:solidFill>
                <a:latin typeface="Calibri" pitchFamily="34" charset="0"/>
                <a:ea typeface="Calibri" pitchFamily="34" charset="-122"/>
                <a:cs typeface="Calibri" pitchFamily="34" charset="-120"/>
              </a:rPr>
              <a:t>Found make demo failing on a fresh clone, because the weekly build was not idempotent and rebuilt over its own output. That produced the already built guard and the scratch store demo. The second audit reads 21 pass, 0 fail, 3 untestable here.</a:t>
            </a:r>
            <a:endParaRPr lang="en-US" sz="1200" dirty="0"/>
          </a:p>
        </p:txBody>
      </p:sp>
      <p:sp>
        <p:nvSpPr>
          <p:cNvPr id="7" name="Shape 5"/>
          <p:cNvSpPr/>
          <p:nvPr/>
        </p:nvSpPr>
        <p:spPr>
          <a:xfrm>
            <a:off x="548640" y="2633472"/>
            <a:ext cx="11064240" cy="1097280"/>
          </a:xfrm>
          <a:prstGeom prst="roundRect">
            <a:avLst>
              <a:gd name="adj" fmla="val 5000"/>
            </a:avLst>
          </a:prstGeom>
          <a:solidFill>
            <a:srgbClr val="F2F2F2"/>
          </a:solidFill>
          <a:ln w="12700">
            <a:solidFill>
              <a:srgbClr val="F2F2F2"/>
            </a:solidFill>
            <a:prstDash val="solid"/>
          </a:ln>
        </p:spPr>
      </p:sp>
      <p:sp>
        <p:nvSpPr>
          <p:cNvPr id="8" name="Text 6"/>
          <p:cNvSpPr txBox="1"/>
          <p:nvPr/>
        </p:nvSpPr>
        <p:spPr>
          <a:xfrm>
            <a:off x="777240" y="2743200"/>
            <a:ext cx="1828800" cy="877824"/>
          </a:xfrm>
          <a:prstGeom prst="rect">
            <a:avLst/>
          </a:prstGeom>
          <a:noFill/>
          <a:ln/>
        </p:spPr>
        <p:txBody>
          <a:bodyPr wrap="square" lIns="0" tIns="0" rIns="0" bIns="0" rtlCol="0" anchor="ctr"/>
          <a:lstStyle/>
          <a:p>
            <a:pPr indent="0" marL="0">
              <a:buNone/>
            </a:pPr>
            <a:r>
              <a:rPr lang="en-US" sz="1700" b="1" dirty="0">
                <a:solidFill>
                  <a:srgbClr val="50808E"/>
                </a:solidFill>
                <a:latin typeface="Cambria" pitchFamily="34" charset="0"/>
                <a:ea typeface="Cambria" pitchFamily="34" charset="-122"/>
                <a:cs typeface="Cambria" pitchFamily="34" charset="-120"/>
              </a:rPr>
              <a:t>Citation</a:t>
            </a:r>
            <a:endParaRPr lang="en-US" sz="1700" dirty="0"/>
          </a:p>
        </p:txBody>
      </p:sp>
      <p:sp>
        <p:nvSpPr>
          <p:cNvPr id="9" name="Text 7"/>
          <p:cNvSpPr txBox="1"/>
          <p:nvPr/>
        </p:nvSpPr>
        <p:spPr>
          <a:xfrm>
            <a:off x="2743200" y="2743200"/>
            <a:ext cx="8823960" cy="877824"/>
          </a:xfrm>
          <a:prstGeom prst="rect">
            <a:avLst/>
          </a:prstGeom>
          <a:noFill/>
          <a:ln/>
        </p:spPr>
        <p:txBody>
          <a:bodyPr wrap="square" lIns="0" tIns="0" rIns="0" bIns="0" rtlCol="0" anchor="ctr"/>
          <a:lstStyle/>
          <a:p>
            <a:pPr indent="0" marL="0">
              <a:lnSpc>
                <a:spcPts val="1600"/>
              </a:lnSpc>
              <a:buNone/>
            </a:pPr>
            <a:r>
              <a:rPr lang="en-US" sz="1200" dirty="0">
                <a:solidFill>
                  <a:srgbClr val="36454F"/>
                </a:solidFill>
                <a:latin typeface="Calibri" pitchFamily="34" charset="0"/>
                <a:ea typeface="Calibri" pitchFamily="34" charset="-122"/>
                <a:cs typeface="Calibri" pitchFamily="34" charset="-120"/>
              </a:rPr>
              <a:t>Resolved all 55 claims and all 125 digest evidence lines by hand with its own throwaway resolver, importing nothing from the package. It caught the doubled PII redaction count, which was the one real bug.</a:t>
            </a:r>
            <a:endParaRPr lang="en-US" sz="1200" dirty="0"/>
          </a:p>
        </p:txBody>
      </p:sp>
      <p:sp>
        <p:nvSpPr>
          <p:cNvPr id="10" name="Shape 8"/>
          <p:cNvSpPr/>
          <p:nvPr/>
        </p:nvSpPr>
        <p:spPr>
          <a:xfrm>
            <a:off x="548640" y="3849624"/>
            <a:ext cx="11064240" cy="1097280"/>
          </a:xfrm>
          <a:prstGeom prst="roundRect">
            <a:avLst>
              <a:gd name="adj" fmla="val 5000"/>
            </a:avLst>
          </a:prstGeom>
          <a:solidFill>
            <a:srgbClr val="F2F2F2"/>
          </a:solidFill>
          <a:ln w="12700">
            <a:solidFill>
              <a:srgbClr val="F2F2F2"/>
            </a:solidFill>
            <a:prstDash val="solid"/>
          </a:ln>
        </p:spPr>
      </p:sp>
      <p:sp>
        <p:nvSpPr>
          <p:cNvPr id="11" name="Text 9"/>
          <p:cNvSpPr txBox="1"/>
          <p:nvPr/>
        </p:nvSpPr>
        <p:spPr>
          <a:xfrm>
            <a:off x="777240" y="3959352"/>
            <a:ext cx="1828800" cy="877824"/>
          </a:xfrm>
          <a:prstGeom prst="rect">
            <a:avLst/>
          </a:prstGeom>
          <a:noFill/>
          <a:ln/>
        </p:spPr>
        <p:txBody>
          <a:bodyPr wrap="square" lIns="0" tIns="0" rIns="0" bIns="0" rtlCol="0" anchor="ctr"/>
          <a:lstStyle/>
          <a:p>
            <a:pPr indent="0" marL="0">
              <a:buNone/>
            </a:pPr>
            <a:r>
              <a:rPr lang="en-US" sz="1700" b="1" dirty="0">
                <a:solidFill>
                  <a:srgbClr val="50808E"/>
                </a:solidFill>
                <a:latin typeface="Cambria" pitchFamily="34" charset="0"/>
                <a:ea typeface="Cambria" pitchFamily="34" charset="-122"/>
                <a:cs typeface="Cambria" pitchFamily="34" charset="-120"/>
              </a:rPr>
              <a:t>Compliance</a:t>
            </a:r>
            <a:endParaRPr lang="en-US" sz="1700" dirty="0"/>
          </a:p>
        </p:txBody>
      </p:sp>
      <p:sp>
        <p:nvSpPr>
          <p:cNvPr id="12" name="Text 10"/>
          <p:cNvSpPr txBox="1"/>
          <p:nvPr/>
        </p:nvSpPr>
        <p:spPr>
          <a:xfrm>
            <a:off x="2743200" y="3959352"/>
            <a:ext cx="8823960" cy="877824"/>
          </a:xfrm>
          <a:prstGeom prst="rect">
            <a:avLst/>
          </a:prstGeom>
          <a:noFill/>
          <a:ln/>
        </p:spPr>
        <p:txBody>
          <a:bodyPr wrap="square" lIns="0" tIns="0" rIns="0" bIns="0" rtlCol="0" anchor="ctr"/>
          <a:lstStyle/>
          <a:p>
            <a:pPr indent="0" marL="0">
              <a:lnSpc>
                <a:spcPts val="1600"/>
              </a:lnSpc>
              <a:buNone/>
            </a:pPr>
            <a:r>
              <a:rPr lang="en-US" sz="1200" dirty="0">
                <a:solidFill>
                  <a:srgbClr val="36454F"/>
                </a:solidFill>
                <a:latin typeface="Calibri" pitchFamily="34" charset="0"/>
                <a:ea typeface="Calibri" pitchFamily="34" charset="-122"/>
                <a:cs typeface="Calibri" pitchFamily="34" charset="-120"/>
              </a:rPr>
              <a:t>Scanned both repositories for dashes, non ASCII, model ids outside config, URL shaped text and voice drift. It found a local home directory path leaking into evals/results.md.</a:t>
            </a:r>
            <a:endParaRPr lang="en-US" sz="1200" dirty="0"/>
          </a:p>
        </p:txBody>
      </p:sp>
      <p:sp>
        <p:nvSpPr>
          <p:cNvPr id="13" name="Shape 11"/>
          <p:cNvSpPr/>
          <p:nvPr/>
        </p:nvSpPr>
        <p:spPr>
          <a:xfrm>
            <a:off x="548640" y="5065776"/>
            <a:ext cx="11064240" cy="1097280"/>
          </a:xfrm>
          <a:prstGeom prst="roundRect">
            <a:avLst>
              <a:gd name="adj" fmla="val 5000"/>
            </a:avLst>
          </a:prstGeom>
          <a:solidFill>
            <a:srgbClr val="F2F2F2"/>
          </a:solidFill>
          <a:ln w="12700">
            <a:solidFill>
              <a:srgbClr val="F2F2F2"/>
            </a:solidFill>
            <a:prstDash val="solid"/>
          </a:ln>
        </p:spPr>
      </p:sp>
      <p:sp>
        <p:nvSpPr>
          <p:cNvPr id="14" name="Text 12"/>
          <p:cNvSpPr txBox="1"/>
          <p:nvPr/>
        </p:nvSpPr>
        <p:spPr>
          <a:xfrm>
            <a:off x="777240" y="5175504"/>
            <a:ext cx="1828800" cy="877824"/>
          </a:xfrm>
          <a:prstGeom prst="rect">
            <a:avLst/>
          </a:prstGeom>
          <a:noFill/>
          <a:ln/>
        </p:spPr>
        <p:txBody>
          <a:bodyPr wrap="square" lIns="0" tIns="0" rIns="0" bIns="0" rtlCol="0" anchor="ctr"/>
          <a:lstStyle/>
          <a:p>
            <a:pPr indent="0" marL="0">
              <a:buNone/>
            </a:pPr>
            <a:r>
              <a:rPr lang="en-US" sz="1700" b="1" dirty="0">
                <a:solidFill>
                  <a:srgbClr val="50808E"/>
                </a:solidFill>
                <a:latin typeface="Cambria" pitchFamily="34" charset="0"/>
                <a:ea typeface="Cambria" pitchFamily="34" charset="-122"/>
                <a:cs typeface="Cambria" pitchFamily="34" charset="-120"/>
              </a:rPr>
              <a:t>Deck</a:t>
            </a:r>
            <a:endParaRPr lang="en-US" sz="1700" dirty="0"/>
          </a:p>
        </p:txBody>
      </p:sp>
      <p:sp>
        <p:nvSpPr>
          <p:cNvPr id="15" name="Text 13"/>
          <p:cNvSpPr txBox="1"/>
          <p:nvPr/>
        </p:nvSpPr>
        <p:spPr>
          <a:xfrm>
            <a:off x="2743200" y="5175504"/>
            <a:ext cx="8823960" cy="877824"/>
          </a:xfrm>
          <a:prstGeom prst="rect">
            <a:avLst/>
          </a:prstGeom>
          <a:noFill/>
          <a:ln/>
        </p:spPr>
        <p:txBody>
          <a:bodyPr wrap="square" lIns="0" tIns="0" rIns="0" bIns="0" rtlCol="0" anchor="ctr"/>
          <a:lstStyle/>
          <a:p>
            <a:pPr indent="0" marL="0">
              <a:lnSpc>
                <a:spcPts val="1600"/>
              </a:lnSpc>
              <a:buNone/>
            </a:pPr>
            <a:r>
              <a:rPr lang="en-US" sz="1200" dirty="0">
                <a:solidFill>
                  <a:srgbClr val="36454F"/>
                </a:solidFill>
                <a:latin typeface="Calibri" pitchFamily="34" charset="0"/>
                <a:ea typeface="Calibri" pitchFamily="34" charset="-122"/>
                <a:cs typeface="Calibri" pitchFamily="34" charset="-120"/>
              </a:rPr>
              <a:t>Traced every number on every slide back to a manifest field and failed the deck on a stale whole store total, with a numbered fix list. Those fixes are in.</a:t>
            </a:r>
            <a:endParaRPr lang="en-US" sz="1200" dirty="0"/>
          </a:p>
        </p:txBody>
      </p:sp>
      <p:sp>
        <p:nvSpPr>
          <p:cNvPr id="16" name="Text 14"/>
          <p:cNvSpPr txBox="1"/>
          <p:nvPr/>
        </p:nvSpPr>
        <p:spPr>
          <a:xfrm>
            <a:off x="548640" y="6263640"/>
            <a:ext cx="10881360" cy="365760"/>
          </a:xfrm>
          <a:prstGeom prst="rect">
            <a:avLst/>
          </a:prstGeom>
          <a:noFill/>
          <a:ln/>
        </p:spPr>
        <p:txBody>
          <a:bodyPr wrap="square" lIns="0" tIns="0" rIns="0" bIns="0" rtlCol="0" anchor="ctr"/>
          <a:lstStyle/>
          <a:p>
            <a:pPr indent="0" marL="0">
              <a:buNone/>
            </a:pPr>
            <a:r>
              <a:rPr lang="en-US" sz="1200" i="1" dirty="0">
                <a:solidFill>
                  <a:srgbClr val="6E7B85"/>
                </a:solidFill>
                <a:latin typeface="Calibri" pitchFamily="34" charset="0"/>
                <a:ea typeface="Calibri" pitchFamily="34" charset="-122"/>
                <a:cs typeface="Calibri" pitchFamily="34" charset="-120"/>
              </a:rPr>
              <a:t>Whoever wrote a piece never checked it. That two agent gate is what found the redaction bug and the fresh clone bug, and neither one was caught by the pipeline's own tests.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6454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CADCFC"/>
                </a:solidFill>
                <a:latin typeface="Calibri" pitchFamily="34" charset="0"/>
                <a:ea typeface="Calibri" pitchFamily="34" charset="-122"/>
                <a:cs typeface="Calibri" pitchFamily="34" charset="-120"/>
              </a:rPr>
              <a:t>KNOWN GAPS AND HONEST CAVEATS</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things I would rather say first than be asked</a:t>
            </a:r>
            <a:endParaRPr lang="en-US" sz="3200" dirty="0"/>
          </a:p>
        </p:txBody>
      </p:sp>
      <p:sp>
        <p:nvSpPr>
          <p:cNvPr id="4" name="Text 2"/>
          <p:cNvSpPr txBox="1"/>
          <p:nvPr/>
        </p:nvSpPr>
        <p:spPr>
          <a:xfrm>
            <a:off x="548640" y="1463040"/>
            <a:ext cx="5486400" cy="457200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One sentence in the week 37 digest calls a claim the one medium importance claim in the set, when there are two. I left it rather than hand edit a recorded run's output.</a:t>
            </a:r>
            <a:endParaRPr lang="en-US" sz="1250" dirty="0"/>
          </a:p>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Week 37 opened ten themes where the plan expected nine. The extra one is real and cited, and tuning it away would have been tuning to my plan rather than to the evidence.</a:t>
            </a:r>
            <a:endParaRPr lang="en-US" sz="1250" dirty="0"/>
          </a:p>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The stability number is honest and awkward. Two live opinions grouped every claim identically, but the older flag compared theme ids and read false. Both numbers are printed.</a:t>
            </a:r>
            <a:endParaRPr lang="en-US" sz="1250" dirty="0"/>
          </a:p>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Three acceptance lines are untestable locally: live mode, a real issue being filed, and the deck audit.</a:t>
            </a:r>
            <a:endParaRPr lang="en-US" sz="1250" dirty="0"/>
          </a:p>
        </p:txBody>
      </p:sp>
      <p:sp>
        <p:nvSpPr>
          <p:cNvPr id="5" name="Text 3"/>
          <p:cNvSpPr txBox="1"/>
          <p:nvPr/>
        </p:nvSpPr>
        <p:spPr>
          <a:xfrm>
            <a:off x="6400800" y="1463040"/>
            <a:ext cx="5212080" cy="457200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The citation auditor could not reproduce the dollar figures by hand, because nothing in the store carries a price.</a:t>
            </a:r>
            <a:endParaRPr lang="en-US" sz="1250" dirty="0"/>
          </a:p>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evals/golden_set.yaml carries the raw planted PII values in a file that is going public. Functionally correct, worth a second opinion.</a:t>
            </a:r>
            <a:endParaRPr lang="en-US" sz="1250" dirty="0"/>
          </a:p>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The manifest counts propose events, so the weekly manifests read 13, 11 and 9 while the proposal directories hold 6, 5 and 4. Both numbers are published.</a:t>
            </a:r>
            <a:endParaRPr lang="en-US" sz="1250" dirty="0"/>
          </a:p>
          <a:p>
            <a:pPr marL="342900" indent="-342900">
              <a:lnSpc>
                <a:spcPts val="2000"/>
              </a:lnSpc>
              <a:spcAft>
                <a:spcPts val="800"/>
              </a:spcAft>
              <a:buSzPct val="100000"/>
              <a:buChar char="•"/>
            </a:pPr>
            <a:r>
              <a:rPr lang="en-US" sz="1250" dirty="0">
                <a:solidFill>
                  <a:srgbClr val="E4E9ED"/>
                </a:solidFill>
                <a:latin typeface="Calibri" pitchFamily="34" charset="0"/>
                <a:ea typeface="Calibri" pitchFamily="34" charset="-122"/>
                <a:cs typeface="Calibri" pitchFamily="34" charset="-120"/>
              </a:rPr>
              <a:t>make approve already carries the yes flag and defaults to a real repository. Never run it to show what the gate does. Use the dry run, or the bare command that exits 4.</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HOW TO DEMO IT LIVE IN TEN MINUTES</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Eight beats, in this order</a:t>
            </a:r>
            <a:endParaRPr lang="en-US" sz="3200" dirty="0"/>
          </a:p>
        </p:txBody>
      </p:sp>
      <p:sp>
        <p:nvSpPr>
          <p:cNvPr id="4" name="Shape 2"/>
          <p:cNvSpPr/>
          <p:nvPr/>
        </p:nvSpPr>
        <p:spPr>
          <a:xfrm>
            <a:off x="548640" y="1371600"/>
            <a:ext cx="5212080" cy="1097280"/>
          </a:xfrm>
          <a:prstGeom prst="roundRect">
            <a:avLst>
              <a:gd name="adj" fmla="val 5000"/>
            </a:avLst>
          </a:prstGeom>
          <a:solidFill>
            <a:srgbClr val="F2F2F2"/>
          </a:solidFill>
          <a:ln w="12700">
            <a:solidFill>
              <a:srgbClr val="F2F2F2"/>
            </a:solidFill>
            <a:prstDash val="solid"/>
          </a:ln>
        </p:spPr>
      </p:sp>
      <p:sp>
        <p:nvSpPr>
          <p:cNvPr id="5" name="Text 3"/>
          <p:cNvSpPr txBox="1"/>
          <p:nvPr/>
        </p:nvSpPr>
        <p:spPr>
          <a:xfrm>
            <a:off x="731520" y="1664208"/>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234440" y="1490472"/>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make demo</a:t>
            </a:r>
            <a:endParaRPr lang="en-US" sz="1100" dirty="0"/>
          </a:p>
        </p:txBody>
      </p:sp>
      <p:sp>
        <p:nvSpPr>
          <p:cNvPr id="7" name="Text 5"/>
          <p:cNvSpPr txBox="1"/>
          <p:nvPr/>
        </p:nvSpPr>
        <p:spPr>
          <a:xfrm>
            <a:off x="1234440" y="1801368"/>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Fifteen ingests and three builds, twenty seconds, zero network, byte identical to what is committed.</a:t>
            </a:r>
            <a:endParaRPr lang="en-US" sz="1050" dirty="0"/>
          </a:p>
        </p:txBody>
      </p:sp>
      <p:sp>
        <p:nvSpPr>
          <p:cNvPr id="8" name="Shape 6"/>
          <p:cNvSpPr/>
          <p:nvPr/>
        </p:nvSpPr>
        <p:spPr>
          <a:xfrm>
            <a:off x="548640" y="2578608"/>
            <a:ext cx="5212080" cy="1097280"/>
          </a:xfrm>
          <a:prstGeom prst="roundRect">
            <a:avLst>
              <a:gd name="adj" fmla="val 5000"/>
            </a:avLst>
          </a:prstGeom>
          <a:solidFill>
            <a:srgbClr val="F2F2F2"/>
          </a:solidFill>
          <a:ln w="12700">
            <a:solidFill>
              <a:srgbClr val="F2F2F2"/>
            </a:solidFill>
            <a:prstDash val="solid"/>
          </a:ln>
        </p:spPr>
      </p:sp>
      <p:sp>
        <p:nvSpPr>
          <p:cNvPr id="9" name="Text 7"/>
          <p:cNvSpPr txBox="1"/>
          <p:nvPr/>
        </p:nvSpPr>
        <p:spPr>
          <a:xfrm>
            <a:off x="731520" y="2871216"/>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1234440" y="2697480"/>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open the week 37 markdown digest</a:t>
            </a:r>
            <a:endParaRPr lang="en-US" sz="1100" dirty="0"/>
          </a:p>
        </p:txBody>
      </p:sp>
      <p:sp>
        <p:nvSpPr>
          <p:cNvPr id="11" name="Text 9"/>
          <p:cNvSpPr txBox="1"/>
          <p:nvPr/>
        </p:nvSpPr>
        <p:spPr>
          <a:xfrm>
            <a:off x="1234440" y="3008376"/>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Read the run line, then theme 1 and its three evidence lines.</a:t>
            </a:r>
            <a:endParaRPr lang="en-US" sz="1050" dirty="0"/>
          </a:p>
        </p:txBody>
      </p:sp>
      <p:sp>
        <p:nvSpPr>
          <p:cNvPr id="12" name="Shape 10"/>
          <p:cNvSpPr/>
          <p:nvPr/>
        </p:nvSpPr>
        <p:spPr>
          <a:xfrm>
            <a:off x="548640" y="3785616"/>
            <a:ext cx="5212080" cy="1097280"/>
          </a:xfrm>
          <a:prstGeom prst="roundRect">
            <a:avLst>
              <a:gd name="adj" fmla="val 5000"/>
            </a:avLst>
          </a:prstGeom>
          <a:solidFill>
            <a:srgbClr val="F2F2F2"/>
          </a:solidFill>
          <a:ln w="12700">
            <a:solidFill>
              <a:srgbClr val="F2F2F2"/>
            </a:solidFill>
            <a:prstDash val="solid"/>
          </a:ln>
        </p:spPr>
      </p:sp>
      <p:sp>
        <p:nvSpPr>
          <p:cNvPr id="13" name="Text 11"/>
          <p:cNvSpPr txBox="1"/>
          <p:nvPr/>
        </p:nvSpPr>
        <p:spPr>
          <a:xfrm>
            <a:off x="731520" y="4078224"/>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1234440" y="3904488"/>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grep the claim id in the evidence file</a:t>
            </a:r>
            <a:endParaRPr lang="en-US" sz="1100" dirty="0"/>
          </a:p>
        </p:txBody>
      </p:sp>
      <p:sp>
        <p:nvSpPr>
          <p:cNvPr id="15" name="Text 13"/>
          <p:cNvSpPr txBox="1"/>
          <p:nvPr/>
        </p:nvSpPr>
        <p:spPr>
          <a:xfrm>
            <a:off x="1234440" y="4215384"/>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Point at the source reference: call, speaker, window, and the side derived by code.</a:t>
            </a:r>
            <a:endParaRPr lang="en-US" sz="1050" dirty="0"/>
          </a:p>
        </p:txBody>
      </p:sp>
      <p:sp>
        <p:nvSpPr>
          <p:cNvPr id="16" name="Shape 14"/>
          <p:cNvSpPr/>
          <p:nvPr/>
        </p:nvSpPr>
        <p:spPr>
          <a:xfrm>
            <a:off x="548640" y="4992624"/>
            <a:ext cx="5212080" cy="1097280"/>
          </a:xfrm>
          <a:prstGeom prst="roundRect">
            <a:avLst>
              <a:gd name="adj" fmla="val 5000"/>
            </a:avLst>
          </a:prstGeom>
          <a:solidFill>
            <a:srgbClr val="F2F2F2"/>
          </a:solidFill>
          <a:ln w="12700">
            <a:solidFill>
              <a:srgbClr val="F2F2F2"/>
            </a:solidFill>
            <a:prstDash val="solid"/>
          </a:ln>
        </p:spPr>
      </p:sp>
      <p:sp>
        <p:nvSpPr>
          <p:cNvPr id="17" name="Text 15"/>
          <p:cNvSpPr txBox="1"/>
          <p:nvPr/>
        </p:nvSpPr>
        <p:spPr>
          <a:xfrm>
            <a:off x="731520" y="5285232"/>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4</a:t>
            </a:r>
            <a:endParaRPr lang="en-US" sz="2400" dirty="0"/>
          </a:p>
        </p:txBody>
      </p:sp>
      <p:sp>
        <p:nvSpPr>
          <p:cNvPr id="18" name="Text 16"/>
          <p:cNvSpPr txBox="1"/>
          <p:nvPr/>
        </p:nvSpPr>
        <p:spPr>
          <a:xfrm>
            <a:off x="1234440" y="5111496"/>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grep the sentence in the raw call file</a:t>
            </a:r>
            <a:endParaRPr lang="en-US" sz="1100" dirty="0"/>
          </a:p>
        </p:txBody>
      </p:sp>
      <p:sp>
        <p:nvSpPr>
          <p:cNvPr id="19" name="Text 17"/>
          <p:cNvSpPr txBox="1"/>
          <p:nvPr/>
        </p:nvSpPr>
        <p:spPr>
          <a:xfrm>
            <a:off x="1234440" y="5422392"/>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Say the rule once. The quote is an exact substring of that window or the claim is rejected.</a:t>
            </a:r>
            <a:endParaRPr lang="en-US" sz="1050" dirty="0"/>
          </a:p>
        </p:txBody>
      </p:sp>
      <p:sp>
        <p:nvSpPr>
          <p:cNvPr id="20" name="Shape 18"/>
          <p:cNvSpPr/>
          <p:nvPr/>
        </p:nvSpPr>
        <p:spPr>
          <a:xfrm>
            <a:off x="6400800" y="1371600"/>
            <a:ext cx="5212080" cy="1097280"/>
          </a:xfrm>
          <a:prstGeom prst="roundRect">
            <a:avLst>
              <a:gd name="adj" fmla="val 5000"/>
            </a:avLst>
          </a:prstGeom>
          <a:solidFill>
            <a:srgbClr val="F2F2F2"/>
          </a:solidFill>
          <a:ln w="12700">
            <a:solidFill>
              <a:srgbClr val="F2F2F2"/>
            </a:solidFill>
            <a:prstDash val="solid"/>
          </a:ln>
        </p:spPr>
      </p:sp>
      <p:sp>
        <p:nvSpPr>
          <p:cNvPr id="21" name="Text 19"/>
          <p:cNvSpPr txBox="1"/>
          <p:nvPr/>
        </p:nvSpPr>
        <p:spPr>
          <a:xfrm>
            <a:off x="6583680" y="1664208"/>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5</a:t>
            </a:r>
            <a:endParaRPr lang="en-US" sz="2400" dirty="0"/>
          </a:p>
        </p:txBody>
      </p:sp>
      <p:sp>
        <p:nvSpPr>
          <p:cNvPr id="22" name="Text 20"/>
          <p:cNvSpPr txBox="1"/>
          <p:nvPr/>
        </p:nvSpPr>
        <p:spPr>
          <a:xfrm>
            <a:off x="7086600" y="1490472"/>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grep the withhold action in a run log</a:t>
            </a:r>
            <a:endParaRPr lang="en-US" sz="1100" dirty="0"/>
          </a:p>
        </p:txBody>
      </p:sp>
      <p:sp>
        <p:nvSpPr>
          <p:cNvPr id="23" name="Text 21"/>
          <p:cNvSpPr txBox="1"/>
          <p:nvPr/>
        </p:nvSpPr>
        <p:spPr>
          <a:xfrm>
            <a:off x="7086600" y="1801368"/>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The withholding happened in the query. The log carries the count and never the value.</a:t>
            </a:r>
            <a:endParaRPr lang="en-US" sz="1050" dirty="0"/>
          </a:p>
        </p:txBody>
      </p:sp>
      <p:sp>
        <p:nvSpPr>
          <p:cNvPr id="24" name="Shape 22"/>
          <p:cNvSpPr/>
          <p:nvPr/>
        </p:nvSpPr>
        <p:spPr>
          <a:xfrm>
            <a:off x="6400800" y="2578608"/>
            <a:ext cx="5212080" cy="1097280"/>
          </a:xfrm>
          <a:prstGeom prst="roundRect">
            <a:avLst>
              <a:gd name="adj" fmla="val 5000"/>
            </a:avLst>
          </a:prstGeom>
          <a:solidFill>
            <a:srgbClr val="F2F2F2"/>
          </a:solidFill>
          <a:ln w="12700">
            <a:solidFill>
              <a:srgbClr val="F2F2F2"/>
            </a:solidFill>
            <a:prstDash val="solid"/>
          </a:ln>
        </p:spPr>
      </p:sp>
      <p:sp>
        <p:nvSpPr>
          <p:cNvPr id="25" name="Text 23"/>
          <p:cNvSpPr txBox="1"/>
          <p:nvPr/>
        </p:nvSpPr>
        <p:spPr>
          <a:xfrm>
            <a:off x="6583680" y="2871216"/>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6</a:t>
            </a:r>
            <a:endParaRPr lang="en-US" sz="2400" dirty="0"/>
          </a:p>
        </p:txBody>
      </p:sp>
      <p:sp>
        <p:nvSpPr>
          <p:cNvPr id="26" name="Text 24"/>
          <p:cNvSpPr txBox="1"/>
          <p:nvPr/>
        </p:nvSpPr>
        <p:spPr>
          <a:xfrm>
            <a:off x="7086600" y="2697480"/>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grep the editor tool names</a:t>
            </a:r>
            <a:endParaRPr lang="en-US" sz="1100" dirty="0"/>
          </a:p>
        </p:txBody>
      </p:sp>
      <p:sp>
        <p:nvSpPr>
          <p:cNvPr id="27" name="Text 25"/>
          <p:cNvSpPr txBox="1"/>
          <p:nvPr/>
        </p:nvSpPr>
        <p:spPr>
          <a:xfrm>
            <a:off x="7086600" y="3008376"/>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Four reads. A grep for a write function matches nothing.</a:t>
            </a:r>
            <a:endParaRPr lang="en-US" sz="1050" dirty="0"/>
          </a:p>
        </p:txBody>
      </p:sp>
      <p:sp>
        <p:nvSpPr>
          <p:cNvPr id="28" name="Shape 26"/>
          <p:cNvSpPr/>
          <p:nvPr/>
        </p:nvSpPr>
        <p:spPr>
          <a:xfrm>
            <a:off x="6400800" y="3785616"/>
            <a:ext cx="5212080" cy="1097280"/>
          </a:xfrm>
          <a:prstGeom prst="roundRect">
            <a:avLst>
              <a:gd name="adj" fmla="val 5000"/>
            </a:avLst>
          </a:prstGeom>
          <a:solidFill>
            <a:srgbClr val="F2F2F2"/>
          </a:solidFill>
          <a:ln w="12700">
            <a:solidFill>
              <a:srgbClr val="F2F2F2"/>
            </a:solidFill>
            <a:prstDash val="solid"/>
          </a:ln>
        </p:spPr>
      </p:sp>
      <p:sp>
        <p:nvSpPr>
          <p:cNvPr id="29" name="Text 27"/>
          <p:cNvSpPr txBox="1"/>
          <p:nvPr/>
        </p:nvSpPr>
        <p:spPr>
          <a:xfrm>
            <a:off x="6583680" y="4078224"/>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7</a:t>
            </a:r>
            <a:endParaRPr lang="en-US" sz="2400" dirty="0"/>
          </a:p>
        </p:txBody>
      </p:sp>
      <p:sp>
        <p:nvSpPr>
          <p:cNvPr id="30" name="Text 28"/>
          <p:cNvSpPr txBox="1"/>
          <p:nvPr/>
        </p:nvSpPr>
        <p:spPr>
          <a:xfrm>
            <a:off x="7086600" y="3904488"/>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approve, dry run, then without the yes flag</a:t>
            </a:r>
            <a:endParaRPr lang="en-US" sz="1100" dirty="0"/>
          </a:p>
        </p:txBody>
      </p:sp>
      <p:sp>
        <p:nvSpPr>
          <p:cNvPr id="31" name="Text 29"/>
          <p:cNvSpPr txBox="1"/>
          <p:nvPr/>
        </p:nvSpPr>
        <p:spPr>
          <a:xfrm>
            <a:off x="7086600" y="4215384"/>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It prints the issue and files nothing, then exits 4, refused.</a:t>
            </a:r>
            <a:endParaRPr lang="en-US" sz="1050" dirty="0"/>
          </a:p>
        </p:txBody>
      </p:sp>
      <p:sp>
        <p:nvSpPr>
          <p:cNvPr id="32" name="Shape 30"/>
          <p:cNvSpPr/>
          <p:nvPr/>
        </p:nvSpPr>
        <p:spPr>
          <a:xfrm>
            <a:off x="6400800" y="4992624"/>
            <a:ext cx="5212080" cy="1097280"/>
          </a:xfrm>
          <a:prstGeom prst="roundRect">
            <a:avLst>
              <a:gd name="adj" fmla="val 5000"/>
            </a:avLst>
          </a:prstGeom>
          <a:solidFill>
            <a:srgbClr val="F2F2F2"/>
          </a:solidFill>
          <a:ln w="12700">
            <a:solidFill>
              <a:srgbClr val="F2F2F2"/>
            </a:solidFill>
            <a:prstDash val="solid"/>
          </a:ln>
        </p:spPr>
      </p:sp>
      <p:sp>
        <p:nvSpPr>
          <p:cNvPr id="33" name="Text 31"/>
          <p:cNvSpPr txBox="1"/>
          <p:nvPr/>
        </p:nvSpPr>
        <p:spPr>
          <a:xfrm>
            <a:off x="6583680" y="5285232"/>
            <a:ext cx="411480" cy="457200"/>
          </a:xfrm>
          <a:prstGeom prst="rect">
            <a:avLst/>
          </a:prstGeom>
          <a:noFill/>
          <a:ln/>
        </p:spPr>
        <p:txBody>
          <a:bodyPr wrap="square" lIns="0" tIns="0" rIns="0" bIns="0" rtlCol="0" anchor="ctr"/>
          <a:lstStyle/>
          <a:p>
            <a:pPr indent="0" marL="0">
              <a:buNone/>
            </a:pPr>
            <a:r>
              <a:rPr lang="en-US" sz="2400" b="1" dirty="0">
                <a:solidFill>
                  <a:srgbClr val="50808E"/>
                </a:solidFill>
                <a:latin typeface="Cambria" pitchFamily="34" charset="0"/>
                <a:ea typeface="Cambria" pitchFamily="34" charset="-122"/>
                <a:cs typeface="Cambria" pitchFamily="34" charset="-120"/>
              </a:rPr>
              <a:t>8</a:t>
            </a:r>
            <a:endParaRPr lang="en-US" sz="2400" dirty="0"/>
          </a:p>
        </p:txBody>
      </p:sp>
      <p:sp>
        <p:nvSpPr>
          <p:cNvPr id="34" name="Text 32"/>
          <p:cNvSpPr txBox="1"/>
          <p:nvPr/>
        </p:nvSpPr>
        <p:spPr>
          <a:xfrm>
            <a:off x="7086600" y="5111496"/>
            <a:ext cx="4389120" cy="329184"/>
          </a:xfrm>
          <a:prstGeom prst="rect">
            <a:avLst/>
          </a:prstGeom>
          <a:noFill/>
          <a:ln/>
        </p:spPr>
        <p:txBody>
          <a:bodyPr wrap="square" lIns="0" tIns="0" rIns="0" bIns="0" rtlCol="0" anchor="ctr"/>
          <a:lstStyle/>
          <a:p>
            <a:pPr indent="0" marL="0">
              <a:buNone/>
            </a:pPr>
            <a:r>
              <a:rPr lang="en-US" sz="1100" b="1" dirty="0">
                <a:solidFill>
                  <a:srgbClr val="212121"/>
                </a:solidFill>
                <a:latin typeface="Courier New" pitchFamily="34" charset="0"/>
                <a:ea typeface="Courier New" pitchFamily="34" charset="-122"/>
                <a:cs typeface="Courier New" pitchFamily="34" charset="-120"/>
              </a:rPr>
              <a:t>swap models, and one unanswerable question</a:t>
            </a:r>
            <a:endParaRPr lang="en-US" sz="1100" dirty="0"/>
          </a:p>
        </p:txBody>
      </p:sp>
      <p:sp>
        <p:nvSpPr>
          <p:cNvPr id="35" name="Text 33"/>
          <p:cNvSpPr txBox="1"/>
          <p:nvPr/>
        </p:nvSpPr>
        <p:spPr>
          <a:xfrm>
            <a:off x="7086600" y="5422392"/>
            <a:ext cx="4389120" cy="603504"/>
          </a:xfrm>
          <a:prstGeom prst="rect">
            <a:avLst/>
          </a:prstGeom>
          <a:noFill/>
          <a:ln/>
        </p:spPr>
        <p:txBody>
          <a:bodyPr wrap="square" lIns="0" tIns="0" rIns="0" bIns="0" rtlCol="0" anchor="t"/>
          <a:lstStyle/>
          <a:p>
            <a:pPr indent="0" marL="0">
              <a:lnSpc>
                <a:spcPts val="1400"/>
              </a:lnSpc>
              <a:buNone/>
            </a:pPr>
            <a:r>
              <a:rPr lang="en-US" sz="1050" dirty="0">
                <a:solidFill>
                  <a:srgbClr val="36454F"/>
                </a:solidFill>
                <a:latin typeface="Calibri" pitchFamily="34" charset="0"/>
                <a:ea typeface="Calibri" pitchFamily="34" charset="-122"/>
                <a:cs typeface="Calibri" pitchFamily="34" charset="-120"/>
              </a:rPr>
              <a:t>Twenty three percent of the cost with the same groupings, then a visible decline.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50" kern="0" dirty="0">
                <a:solidFill>
                  <a:srgbClr val="50808E"/>
                </a:solidFill>
                <a:latin typeface="Calibri" pitchFamily="34" charset="0"/>
                <a:ea typeface="Calibri" pitchFamily="34" charset="-122"/>
                <a:cs typeface="Calibri" pitchFamily="34" charset="-120"/>
              </a:rPr>
              <a:t>RECORDING, AND THE LAST CHECK</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36454F"/>
                </a:solidFill>
                <a:latin typeface="Cambria" pitchFamily="34" charset="0"/>
                <a:ea typeface="Cambria" pitchFamily="34" charset="-122"/>
                <a:cs typeface="Cambria" pitchFamily="34" charset="-120"/>
              </a:rPr>
              <a:t>How to record it, and what to verify first</a:t>
            </a:r>
            <a:endParaRPr lang="en-US" sz="3200" dirty="0"/>
          </a:p>
        </p:txBody>
      </p:sp>
      <p:sp>
        <p:nvSpPr>
          <p:cNvPr id="4" name="Shape 2"/>
          <p:cNvSpPr/>
          <p:nvPr/>
        </p:nvSpPr>
        <p:spPr>
          <a:xfrm>
            <a:off x="548640" y="1417320"/>
            <a:ext cx="5486400" cy="4206240"/>
          </a:xfrm>
          <a:prstGeom prst="roundRect">
            <a:avLst>
              <a:gd name="adj" fmla="val 1304"/>
            </a:avLst>
          </a:prstGeom>
          <a:solidFill>
            <a:srgbClr val="F2F2F2"/>
          </a:solidFill>
          <a:ln w="12700">
            <a:solidFill>
              <a:srgbClr val="F2F2F2"/>
            </a:solidFill>
            <a:prstDash val="solid"/>
          </a:ln>
        </p:spPr>
      </p:sp>
      <p:sp>
        <p:nvSpPr>
          <p:cNvPr id="5" name="Text 3"/>
          <p:cNvSpPr txBox="1"/>
          <p:nvPr/>
        </p:nvSpPr>
        <p:spPr>
          <a:xfrm>
            <a:off x="822960" y="1600200"/>
            <a:ext cx="4937760" cy="365760"/>
          </a:xfrm>
          <a:prstGeom prst="rect">
            <a:avLst/>
          </a:prstGeom>
          <a:noFill/>
          <a:ln/>
        </p:spPr>
        <p:txBody>
          <a:bodyPr wrap="square" lIns="0" tIns="0" rIns="0" bIns="0" rtlCol="0" anchor="ctr"/>
          <a:lstStyle/>
          <a:p>
            <a:pPr indent="0" marL="0">
              <a:buNone/>
            </a:pPr>
            <a:r>
              <a:rPr lang="en-US" sz="1900" b="1" dirty="0">
                <a:solidFill>
                  <a:srgbClr val="50808E"/>
                </a:solidFill>
                <a:latin typeface="Cambria" pitchFamily="34" charset="0"/>
                <a:ea typeface="Cambria" pitchFamily="34" charset="-122"/>
                <a:cs typeface="Cambria" pitchFamily="34" charset="-120"/>
              </a:rPr>
              <a:t>Recording the walkthrough</a:t>
            </a:r>
            <a:endParaRPr lang="en-US" sz="1900" dirty="0"/>
          </a:p>
        </p:txBody>
      </p:sp>
      <p:sp>
        <p:nvSpPr>
          <p:cNvPr id="6" name="Text 4"/>
          <p:cNvSpPr txBox="1"/>
          <p:nvPr/>
        </p:nvSpPr>
        <p:spPr>
          <a:xfrm>
            <a:off x="822960" y="2057400"/>
            <a:ext cx="4937760" cy="3291840"/>
          </a:xfrm>
          <a:prstGeom prst="rect">
            <a:avLst/>
          </a:prstGeom>
          <a:noFill/>
          <a:ln/>
        </p:spPr>
        <p:txBody>
          <a:bodyPr wrap="square" lIns="0" tIns="0" rIns="0" bIns="0" rtlCol="0" anchor="t"/>
          <a:lstStyle/>
          <a:p>
            <a:pPr indent="0" marL="0">
              <a:lnSpc>
                <a:spcPts val="2000"/>
              </a:lnSpc>
              <a:buNone/>
            </a:pPr>
            <a:r>
              <a:rPr lang="en-US" sz="1350" dirty="0">
                <a:solidFill>
                  <a:srgbClr val="36454F"/>
                </a:solidFill>
                <a:latin typeface="Calibri" pitchFamily="34" charset="0"/>
                <a:ea typeface="Calibri" pitchFamily="34" charset="-122"/>
                <a:cs typeface="Calibri" pitchFamily="34" charset="-120"/>
              </a:rPr>
              <a:t>Terminal at a large font, nothing else on screen, browser ready on the HTML digest in a second tab. Run make demo once before recording so the caches are warm and the scratch store already exists. Do not narrate the setup. Start with the first command typed and unexecuted, keep to the eight beats, and take it in one pass. Afterwards, put the recording location into the line at the top of walkthrough.md.</a:t>
            </a:r>
            <a:endParaRPr lang="en-US" sz="1350" dirty="0"/>
          </a:p>
        </p:txBody>
      </p:sp>
      <p:sp>
        <p:nvSpPr>
          <p:cNvPr id="7" name="Shape 5"/>
          <p:cNvSpPr/>
          <p:nvPr/>
        </p:nvSpPr>
        <p:spPr>
          <a:xfrm>
            <a:off x="6400800" y="1417320"/>
            <a:ext cx="5212080" cy="4206240"/>
          </a:xfrm>
          <a:prstGeom prst="roundRect">
            <a:avLst>
              <a:gd name="adj" fmla="val 1304"/>
            </a:avLst>
          </a:prstGeom>
          <a:solidFill>
            <a:srgbClr val="F2F2F2"/>
          </a:solidFill>
          <a:ln w="12700">
            <a:solidFill>
              <a:srgbClr val="F2F2F2"/>
            </a:solidFill>
            <a:prstDash val="solid"/>
          </a:ln>
        </p:spPr>
      </p:sp>
      <p:sp>
        <p:nvSpPr>
          <p:cNvPr id="8" name="Text 6"/>
          <p:cNvSpPr txBox="1"/>
          <p:nvPr/>
        </p:nvSpPr>
        <p:spPr>
          <a:xfrm>
            <a:off x="6675120" y="1600200"/>
            <a:ext cx="4663440" cy="365760"/>
          </a:xfrm>
          <a:prstGeom prst="rect">
            <a:avLst/>
          </a:prstGeom>
          <a:noFill/>
          <a:ln/>
        </p:spPr>
        <p:txBody>
          <a:bodyPr wrap="square" lIns="0" tIns="0" rIns="0" bIns="0" rtlCol="0" anchor="ctr"/>
          <a:lstStyle/>
          <a:p>
            <a:pPr indent="0" marL="0">
              <a:buNone/>
            </a:pPr>
            <a:r>
              <a:rPr lang="en-US" sz="1900" b="1" dirty="0">
                <a:solidFill>
                  <a:srgbClr val="50808E"/>
                </a:solidFill>
                <a:latin typeface="Cambria" pitchFamily="34" charset="0"/>
                <a:ea typeface="Cambria" pitchFamily="34" charset="-122"/>
                <a:cs typeface="Cambria" pitchFamily="34" charset="-120"/>
              </a:rPr>
              <a:t>Before Momentive Software tests it</a:t>
            </a:r>
            <a:endParaRPr lang="en-US" sz="1900" dirty="0"/>
          </a:p>
        </p:txBody>
      </p:sp>
      <p:sp>
        <p:nvSpPr>
          <p:cNvPr id="9" name="Text 7"/>
          <p:cNvSpPr txBox="1"/>
          <p:nvPr/>
        </p:nvSpPr>
        <p:spPr>
          <a:xfrm>
            <a:off x="6675120" y="2057400"/>
            <a:ext cx="4663440" cy="338328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make test reads 531 passed.</a:t>
            </a:r>
            <a:endParaRPr lang="en-US" sz="1250" dirty="0"/>
          </a:p>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make demo from a clean tree reads 18 of 18 and 19 commits.</a:t>
            </a:r>
            <a:endParaRPr lang="en-US" sz="1250" dirty="0"/>
          </a:p>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git status is empty in both repositories.</a:t>
            </a:r>
            <a:endParaRPr lang="en-US" sz="1250" dirty="0"/>
          </a:p>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The store is at its committed state, or make clean-store puts it back.</a:t>
            </a:r>
            <a:endParaRPr lang="en-US" sz="1250" dirty="0"/>
          </a:p>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The dash grep over both repositories prints nothing.</a:t>
            </a:r>
            <a:endParaRPr lang="en-US" sz="1250" dirty="0"/>
          </a:p>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The home directory path in evals/results.md is gone before these go public.</a:t>
            </a:r>
            <a:endParaRPr lang="en-US" sz="1250" dirty="0"/>
          </a:p>
          <a:p>
            <a:pPr marL="342900" indent="-342900">
              <a:lnSpc>
                <a:spcPts val="2000"/>
              </a:lnSpc>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docs/VERIFY.md is the page I send. It tells a stranger what to type and what should come back.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Orientation: what you have and how to run it</dc:title>
  <dc:subject>PptxGenJS Presentation</dc:subject>
  <dc:creator>Jim Mehta</dc:creator>
  <cp:lastModifiedBy>Jim Mehta</cp:lastModifiedBy>
  <cp:revision>1</cp:revision>
  <dcterms:created xsi:type="dcterms:W3CDTF">2026-09-15T17:31:08Z</dcterms:created>
  <dcterms:modified xsi:type="dcterms:W3CDTF">2026-09-15T17:31:08Z</dcterms:modified>
</cp:coreProperties>
</file>